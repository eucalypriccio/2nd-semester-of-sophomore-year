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8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C3A12-34B6-6D78-0496-BF2585704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E2627F-A12A-C2FF-3B7B-47E3EB7B1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7D045F-ABC1-6A50-7FEF-072AC3F8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31DE95-9C73-BBA4-80B8-3D38A001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962AB-A06A-4595-02EC-A38E627B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9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F3394-74B0-5C8A-94C6-88D79763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2F0CF-8F1B-5280-1FF5-71C3DA9A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D64074-FF00-E848-BE2E-76849DB7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3EE00B-3393-5B3B-E697-716DE3D6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B11C29-50D2-9339-B16E-3CC1925F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49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28F31-CE07-62B5-5DCE-5AAE4E45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3BC33-DBAF-CDE2-7E5C-540A2DD4D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D91552-D3FD-8338-9CBD-9333DC08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5F54C-D5E2-D38C-1F75-F05F9716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74D12-C735-A67B-5B0E-4CC06837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17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68AAC-92BC-EAC9-1F50-9165E9C4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E4F843-00F1-E009-E5E9-EA2017756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8168C7-10FB-251B-4307-1011F91E6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B62C38-A5BC-354C-FB4D-505D6BA7B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7828D1-E5AE-6040-A937-950CE676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BA22A2-93FD-81FC-C5CB-CEDA1653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99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23A13-172A-44E4-EDD2-756ADF28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EEF558-087D-AD75-4D8F-7E3C0D4D9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AA53DE-440D-1AA7-7AA1-62B01A12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384DC4-A976-1CAF-7BC0-1D37171C2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A52348-0497-105F-62A8-C4B8FE643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8424C0-27E4-ACEB-0E5C-AB1EBBE3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6BCFC1-4800-B57E-EA4B-B76F1CD3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AFB575-2FB5-5294-016F-B64AF761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7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C29C8-27E8-3B4A-2D48-94A0F7469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D11A86-2552-6153-9AB7-42635FBB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D5510A-0849-AC72-914E-55F41F45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28ED4A-6652-F80D-7383-7082EF54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2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FC9F56-C54E-3071-0726-6DAAFEB4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A2B241-540F-C4E4-662A-B0BBF776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C9D34C-9D0C-E04A-D2C8-BD1ACB4E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32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E646F-3E3E-E9CD-DF85-5EB98F48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06779-D52C-1FCD-2887-518F1368B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323671-084F-5846-10E0-86C0CCE30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124E20-269D-FEEC-00CA-E233AE654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7DC57-0388-3427-19ED-306DC70B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33ED8D-53A4-B15A-6E68-5BB63765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4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203BA-3A26-38CF-E7AC-01A341CF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72A6E3-A03D-4908-89BF-3C5AB6190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431C44-F461-221D-19C4-6F153506D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EF9DE9-94B9-4655-3F69-A3FA740E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36631-9BB8-9E62-3B6C-B2FEC0CE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7AA9A-687A-7DC8-FFDB-B3609E74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68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33D48-44DD-F970-A565-F6A97628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0D3D3-2A4E-8C78-B569-4AE6FE24E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C80DF3-1AF8-0BD1-7320-BF923D18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8D3DE-0781-FE03-602E-5E7BFB57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8E216-FCEF-3BBB-7E48-E9B6C469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485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3B8276-1C61-DB54-D986-7F7BEC9C6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F10CAA-134C-1D8C-92F7-47D56503E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CB21B-2FC3-764C-E63A-4745C140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976AF6-16BE-7607-3C37-51E739EB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9032A6-8690-F3FD-5438-8F98520E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564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E19582-F042-9C8D-8847-3604D33C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91C5A6-7596-F9E8-7C57-667E7AD0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5A6C96-433D-6E4F-C764-E5C100E66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22E22-04DC-4A5E-80B1-9ED4F98E405A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DBFBA-93E9-A520-95DE-65055F244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3D420-A3B9-D7A5-7242-BA10AF89E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8E388-AEB1-4D7D-AFA3-11612A888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65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eeexplore.ieee.org/abstract/document/997970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2C0DBA6-821A-133F-434F-CDF8259C264A}"/>
              </a:ext>
            </a:extLst>
          </p:cNvPr>
          <p:cNvCxnSpPr>
            <a:cxnSpLocks/>
          </p:cNvCxnSpPr>
          <p:nvPr/>
        </p:nvCxnSpPr>
        <p:spPr>
          <a:xfrm>
            <a:off x="353291" y="533402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00501A2F-6A3F-CC21-F3EB-170D2047C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556" y="3660912"/>
            <a:ext cx="1262631" cy="957626"/>
          </a:xfrm>
          <a:prstGeom prst="rect">
            <a:avLst/>
          </a:prstGeom>
        </p:spPr>
      </p:pic>
      <p:pic>
        <p:nvPicPr>
          <p:cNvPr id="8" name="图片 7" descr="徽标, 公司名称&#10;&#10;AI 生成的内容可能不正确。">
            <a:extLst>
              <a:ext uri="{FF2B5EF4-FFF2-40B4-BE49-F238E27FC236}">
                <a16:creationId xmlns:a16="http://schemas.microsoft.com/office/drawing/2014/main" id="{3756EC10-8E3D-B335-8783-CD1215040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37" y="3653882"/>
            <a:ext cx="971686" cy="9716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9BFEF97-2A81-9E38-6A13-FD7CDE7201EF}"/>
              </a:ext>
            </a:extLst>
          </p:cNvPr>
          <p:cNvSpPr txBox="1"/>
          <p:nvPr/>
        </p:nvSpPr>
        <p:spPr>
          <a:xfrm>
            <a:off x="1145048" y="1518193"/>
            <a:ext cx="99018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Semantic Communication Meets Edge Intelligence</a:t>
            </a:r>
            <a:r>
              <a:rPr lang="en-US" altLang="zh-CN" sz="4800" b="1" baseline="30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[1]</a:t>
            </a:r>
            <a:endParaRPr lang="zh-CN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5B3022-1D3E-5C89-F1EE-5A19E207438E}"/>
              </a:ext>
            </a:extLst>
          </p:cNvPr>
          <p:cNvSpPr txBox="1"/>
          <p:nvPr/>
        </p:nvSpPr>
        <p:spPr>
          <a:xfrm>
            <a:off x="5205842" y="5514926"/>
            <a:ext cx="178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Jun. 20, 2025</a:t>
            </a:r>
            <a:endParaRPr lang="zh-CN" altLang="en-US" dirty="0">
              <a:latin typeface="Arial" panose="020B0604020202020204" pitchFamily="34" charset="0"/>
              <a:ea typeface="Noto Sans SC" panose="020B02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7041ED-582E-7951-92C5-D5FC3AB56AEA}"/>
              </a:ext>
            </a:extLst>
          </p:cNvPr>
          <p:cNvSpPr txBox="1"/>
          <p:nvPr/>
        </p:nvSpPr>
        <p:spPr>
          <a:xfrm>
            <a:off x="4682833" y="5039380"/>
            <a:ext cx="282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提高 </a:t>
            </a:r>
            <a:r>
              <a:rPr lang="en-US" altLang="zh-CN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2301 </a:t>
            </a:r>
            <a:r>
              <a:rPr lang="zh-CN" altLang="en-US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班 张禹阳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452FC74-9132-D8B6-ED98-BE49FB47251B}"/>
              </a:ext>
            </a:extLst>
          </p:cNvPr>
          <p:cNvCxnSpPr>
            <a:cxnSpLocks/>
          </p:cNvCxnSpPr>
          <p:nvPr/>
        </p:nvCxnSpPr>
        <p:spPr>
          <a:xfrm>
            <a:off x="353291" y="631767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BBD3D87-D8FD-768D-4B36-3F794074775E}"/>
              </a:ext>
            </a:extLst>
          </p:cNvPr>
          <p:cNvSpPr txBox="1"/>
          <p:nvPr/>
        </p:nvSpPr>
        <p:spPr>
          <a:xfrm>
            <a:off x="353291" y="6352782"/>
            <a:ext cx="11485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[1] W. Yang et al., "Semantic Communication Meets Edge Intelligence," in IEEE Wireless Communications, vol. 29, no. 5, pp. 28-35, October 2022, </a:t>
            </a:r>
            <a:r>
              <a:rPr lang="en-US" altLang="zh-CN" sz="1200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doi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: 10.1109/MWC.004.2200050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8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4EA5DD4-3620-701A-9DCE-4DDE25D9B802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6CD1AC90-D234-4675-DC37-CE1A82302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41EBC39-6CDF-38DC-CFF1-BE641967F941}"/>
              </a:ext>
            </a:extLst>
          </p:cNvPr>
          <p:cNvSpPr txBox="1"/>
          <p:nvPr/>
        </p:nvSpPr>
        <p:spPr>
          <a:xfrm>
            <a:off x="3777095" y="210312"/>
            <a:ext cx="46378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Table of Contents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512766-7E60-3A3E-5EC1-8040CEED75D4}"/>
              </a:ext>
            </a:extLst>
          </p:cNvPr>
          <p:cNvSpPr txBox="1"/>
          <p:nvPr/>
        </p:nvSpPr>
        <p:spPr>
          <a:xfrm>
            <a:off x="3276601" y="1641762"/>
            <a:ext cx="752994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Introduction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Preliminaries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Edge-Enabled </a:t>
            </a:r>
            <a:r>
              <a:rPr lang="en-US" altLang="zh-CN" sz="24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Semantic-Aware Edge Intelligence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Case Study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Research Directions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921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0197E61-5AEF-3224-BDDC-6E6557745EC7}"/>
              </a:ext>
            </a:extLst>
          </p:cNvPr>
          <p:cNvSpPr/>
          <p:nvPr/>
        </p:nvSpPr>
        <p:spPr>
          <a:xfrm>
            <a:off x="652093" y="3505217"/>
            <a:ext cx="3373582" cy="31034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9CE89DA-A07F-590A-5AC8-B645BD67A50B}"/>
              </a:ext>
            </a:extLst>
          </p:cNvPr>
          <p:cNvSpPr/>
          <p:nvPr/>
        </p:nvSpPr>
        <p:spPr>
          <a:xfrm>
            <a:off x="654708" y="1865999"/>
            <a:ext cx="3373582" cy="13422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A9376DF-2064-FE96-FEE4-0678E862280D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徽标&#10;&#10;AI 生成的内容可能不正确。">
            <a:extLst>
              <a:ext uri="{FF2B5EF4-FFF2-40B4-BE49-F238E27FC236}">
                <a16:creationId xmlns:a16="http://schemas.microsoft.com/office/drawing/2014/main" id="{8056F648-229E-C638-B26B-32476015F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B83C643-9816-34A9-D8B4-CEC8B9159337}"/>
              </a:ext>
            </a:extLst>
          </p:cNvPr>
          <p:cNvSpPr txBox="1"/>
          <p:nvPr/>
        </p:nvSpPr>
        <p:spPr>
          <a:xfrm>
            <a:off x="4514850" y="195032"/>
            <a:ext cx="3155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732226-AA74-2592-72F3-FDE68006BC58}"/>
              </a:ext>
            </a:extLst>
          </p:cNvPr>
          <p:cNvSpPr txBox="1"/>
          <p:nvPr/>
        </p:nvSpPr>
        <p:spPr>
          <a:xfrm>
            <a:off x="5636197" y="2825009"/>
            <a:ext cx="1831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Semantic communication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BCB6C0-C5D1-DE0C-A6BC-285F43DACB4F}"/>
              </a:ext>
            </a:extLst>
          </p:cNvPr>
          <p:cNvSpPr txBox="1"/>
          <p:nvPr/>
        </p:nvSpPr>
        <p:spPr>
          <a:xfrm>
            <a:off x="814596" y="3505217"/>
            <a:ext cx="3129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 levels of communication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EB3E2A4-7D2B-560C-B555-5E492C52AE92}"/>
              </a:ext>
            </a:extLst>
          </p:cNvPr>
          <p:cNvSpPr txBox="1"/>
          <p:nvPr/>
        </p:nvSpPr>
        <p:spPr>
          <a:xfrm>
            <a:off x="4106609" y="4239346"/>
            <a:ext cx="3218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Classic information theory: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mathematical theory based on probabilistic models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0F116B-F438-F092-BF13-87C1415EFFB6}"/>
              </a:ext>
            </a:extLst>
          </p:cNvPr>
          <p:cNvSpPr txBox="1"/>
          <p:nvPr/>
        </p:nvSpPr>
        <p:spPr>
          <a:xfrm>
            <a:off x="8049374" y="2841089"/>
            <a:ext cx="33280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achievable transmission rates are approaching </a:t>
            </a:r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Shannon limit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spectrum resources are becoming more scarce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mobile data traffic are growing dazzlingly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151CF6-1534-174B-36F8-1E0982A62E23}"/>
              </a:ext>
            </a:extLst>
          </p:cNvPr>
          <p:cNvSpPr txBox="1"/>
          <p:nvPr/>
        </p:nvSpPr>
        <p:spPr>
          <a:xfrm>
            <a:off x="1448741" y="1909531"/>
            <a:ext cx="1861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6G visions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B41D3BF-ABEC-6404-3D96-A43DBD77D691}"/>
              </a:ext>
            </a:extLst>
          </p:cNvPr>
          <p:cNvSpPr/>
          <p:nvPr/>
        </p:nvSpPr>
        <p:spPr>
          <a:xfrm>
            <a:off x="962970" y="2505952"/>
            <a:ext cx="283325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2CE6E-D70F-D5F5-3EEB-9376377370FF}"/>
              </a:ext>
            </a:extLst>
          </p:cNvPr>
          <p:cNvSpPr txBox="1"/>
          <p:nvPr/>
        </p:nvSpPr>
        <p:spPr>
          <a:xfrm>
            <a:off x="1043023" y="2602885"/>
            <a:ext cx="267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Internet of Everything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0E4AB2-A1E2-1856-C9B2-C5256267473C}"/>
              </a:ext>
            </a:extLst>
          </p:cNvPr>
          <p:cNvSpPr txBox="1"/>
          <p:nvPr/>
        </p:nvSpPr>
        <p:spPr>
          <a:xfrm>
            <a:off x="5636198" y="2067300"/>
            <a:ext cx="1367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24F197D6-9FCF-8CFE-1885-6BC869E24E4E}"/>
              </a:ext>
            </a:extLst>
          </p:cNvPr>
          <p:cNvCxnSpPr>
            <a:cxnSpLocks/>
            <a:stCxn id="21" idx="1"/>
            <a:endCxn id="19" idx="3"/>
          </p:cNvCxnSpPr>
          <p:nvPr/>
        </p:nvCxnSpPr>
        <p:spPr>
          <a:xfrm rot="10800000" flipV="1">
            <a:off x="3796222" y="2390466"/>
            <a:ext cx="1839977" cy="412474"/>
          </a:xfrm>
          <a:prstGeom prst="bentConnector3">
            <a:avLst>
              <a:gd name="adj1" fmla="val 274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7A179F92-C8AE-2906-BA04-96096F568945}"/>
              </a:ext>
            </a:extLst>
          </p:cNvPr>
          <p:cNvCxnSpPr>
            <a:cxnSpLocks/>
            <a:stCxn id="14" idx="1"/>
            <a:endCxn id="19" idx="3"/>
          </p:cNvCxnSpPr>
          <p:nvPr/>
        </p:nvCxnSpPr>
        <p:spPr>
          <a:xfrm rot="10800000">
            <a:off x="3796221" y="2802941"/>
            <a:ext cx="1839976" cy="345235"/>
          </a:xfrm>
          <a:prstGeom prst="bentConnector3">
            <a:avLst>
              <a:gd name="adj1" fmla="val 274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B59761E-7218-9F7C-7DA5-34BC524EF787}"/>
              </a:ext>
            </a:extLst>
          </p:cNvPr>
          <p:cNvSpPr/>
          <p:nvPr/>
        </p:nvSpPr>
        <p:spPr>
          <a:xfrm>
            <a:off x="922256" y="5834199"/>
            <a:ext cx="283325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8A9FC6A-18D5-E22D-953B-C8D22E1A8357}"/>
              </a:ext>
            </a:extLst>
          </p:cNvPr>
          <p:cNvSpPr/>
          <p:nvPr/>
        </p:nvSpPr>
        <p:spPr>
          <a:xfrm>
            <a:off x="922257" y="5121556"/>
            <a:ext cx="283325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B167C90-1348-D58B-7732-74422D6CB2CD}"/>
              </a:ext>
            </a:extLst>
          </p:cNvPr>
          <p:cNvSpPr/>
          <p:nvPr/>
        </p:nvSpPr>
        <p:spPr>
          <a:xfrm>
            <a:off x="922258" y="4404023"/>
            <a:ext cx="283325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E5918A4-75D2-E822-6F17-FB1EBA9A2ABE}"/>
              </a:ext>
            </a:extLst>
          </p:cNvPr>
          <p:cNvSpPr txBox="1"/>
          <p:nvPr/>
        </p:nvSpPr>
        <p:spPr>
          <a:xfrm>
            <a:off x="1043023" y="4495759"/>
            <a:ext cx="267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technical level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5E0306B-95DA-7515-1AF7-D493782BCC28}"/>
              </a:ext>
            </a:extLst>
          </p:cNvPr>
          <p:cNvSpPr txBox="1"/>
          <p:nvPr/>
        </p:nvSpPr>
        <p:spPr>
          <a:xfrm>
            <a:off x="1043023" y="5216044"/>
            <a:ext cx="267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semantic level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FB800C1-27CF-FA68-4F3D-A210B2F05A0E}"/>
              </a:ext>
            </a:extLst>
          </p:cNvPr>
          <p:cNvSpPr txBox="1"/>
          <p:nvPr/>
        </p:nvSpPr>
        <p:spPr>
          <a:xfrm>
            <a:off x="1043023" y="5931132"/>
            <a:ext cx="267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effectiveness level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3AF4FBD-F709-6BCC-25C3-CF40E9D144C9}"/>
              </a:ext>
            </a:extLst>
          </p:cNvPr>
          <p:cNvCxnSpPr>
            <a:cxnSpLocks/>
            <a:stCxn id="22" idx="1"/>
            <a:endCxn id="34" idx="3"/>
          </p:cNvCxnSpPr>
          <p:nvPr/>
        </p:nvCxnSpPr>
        <p:spPr>
          <a:xfrm flipH="1">
            <a:off x="3755509" y="4701011"/>
            <a:ext cx="351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FB1CDC3-30EE-5DE6-EF79-6D121054295D}"/>
              </a:ext>
            </a:extLst>
          </p:cNvPr>
          <p:cNvSpPr txBox="1"/>
          <p:nvPr/>
        </p:nvSpPr>
        <p:spPr>
          <a:xfrm>
            <a:off x="8099032" y="2159632"/>
            <a:ext cx="3129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of CIT</a:t>
            </a:r>
            <a:endParaRPr lang="zh-CN" altLang="en-US" sz="2400" dirty="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3093FE0-D70A-EB0B-638A-A71E43CF54E0}"/>
              </a:ext>
            </a:extLst>
          </p:cNvPr>
          <p:cNvSpPr/>
          <p:nvPr/>
        </p:nvSpPr>
        <p:spPr>
          <a:xfrm>
            <a:off x="7734745" y="1865998"/>
            <a:ext cx="3867069" cy="47426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956E33EF-391F-5DFE-6067-1846233AE7E5}"/>
              </a:ext>
            </a:extLst>
          </p:cNvPr>
          <p:cNvCxnSpPr>
            <a:stCxn id="22" idx="3"/>
            <a:endCxn id="43" idx="1"/>
          </p:cNvCxnSpPr>
          <p:nvPr/>
        </p:nvCxnSpPr>
        <p:spPr>
          <a:xfrm flipV="1">
            <a:off x="7324777" y="2390465"/>
            <a:ext cx="774255" cy="2310546"/>
          </a:xfrm>
          <a:prstGeom prst="bentConnector3">
            <a:avLst>
              <a:gd name="adj1" fmla="val 3479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4C32B8BD-6EC4-D30D-09DC-A1B204635A4B}"/>
              </a:ext>
            </a:extLst>
          </p:cNvPr>
          <p:cNvSpPr txBox="1"/>
          <p:nvPr/>
        </p:nvSpPr>
        <p:spPr>
          <a:xfrm>
            <a:off x="323044" y="1232814"/>
            <a:ext cx="2316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FCB3FFF-DDB8-9BC8-3E0A-F9DCE7AF665C}"/>
              </a:ext>
            </a:extLst>
          </p:cNvPr>
          <p:cNvSpPr txBox="1"/>
          <p:nvPr/>
        </p:nvSpPr>
        <p:spPr>
          <a:xfrm>
            <a:off x="4063365" y="2167761"/>
            <a:ext cx="1367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Key enablers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46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A3C16DF-E89A-AB26-72B0-6E203C52BCC3}"/>
              </a:ext>
            </a:extLst>
          </p:cNvPr>
          <p:cNvSpPr/>
          <p:nvPr/>
        </p:nvSpPr>
        <p:spPr>
          <a:xfrm>
            <a:off x="6331607" y="3865671"/>
            <a:ext cx="389929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23667C-1769-63F9-2668-54B8D8521F57}"/>
              </a:ext>
            </a:extLst>
          </p:cNvPr>
          <p:cNvSpPr/>
          <p:nvPr/>
        </p:nvSpPr>
        <p:spPr>
          <a:xfrm>
            <a:off x="6331607" y="2008909"/>
            <a:ext cx="3899291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2F066D9-5DA5-1004-D7E8-26BA7D670504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D8B8B8E2-BE8F-0CE4-E270-C49C7FBC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7A30673-A6F8-8B49-A346-B31400316DC7}"/>
              </a:ext>
            </a:extLst>
          </p:cNvPr>
          <p:cNvSpPr txBox="1"/>
          <p:nvPr/>
        </p:nvSpPr>
        <p:spPr>
          <a:xfrm>
            <a:off x="4514850" y="195032"/>
            <a:ext cx="3155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88F8C7A-5DAF-F6AF-7C40-3BCC0C81B33E}"/>
              </a:ext>
            </a:extLst>
          </p:cNvPr>
          <p:cNvSpPr/>
          <p:nvPr/>
        </p:nvSpPr>
        <p:spPr>
          <a:xfrm>
            <a:off x="471140" y="2346623"/>
            <a:ext cx="2195866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674381-59F5-C56C-EFE2-86E6A8A3F385}"/>
              </a:ext>
            </a:extLst>
          </p:cNvPr>
          <p:cNvSpPr txBox="1"/>
          <p:nvPr/>
        </p:nvSpPr>
        <p:spPr>
          <a:xfrm>
            <a:off x="551192" y="2443556"/>
            <a:ext cx="2071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End devices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EE8F3B3-26E6-293F-FF06-B2FDCC8494FA}"/>
              </a:ext>
            </a:extLst>
          </p:cNvPr>
          <p:cNvSpPr/>
          <p:nvPr/>
        </p:nvSpPr>
        <p:spPr>
          <a:xfrm>
            <a:off x="471139" y="4438662"/>
            <a:ext cx="2195866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453B8A-B346-A593-9A94-9BC978CBC12C}"/>
              </a:ext>
            </a:extLst>
          </p:cNvPr>
          <p:cNvSpPr txBox="1"/>
          <p:nvPr/>
        </p:nvSpPr>
        <p:spPr>
          <a:xfrm>
            <a:off x="551191" y="4535595"/>
            <a:ext cx="2071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DF4A7F5-AB86-A5A8-4306-C8ADFC4356CB}"/>
              </a:ext>
            </a:extLst>
          </p:cNvPr>
          <p:cNvCxnSpPr>
            <a:cxnSpLocks/>
            <a:stCxn id="10" idx="0"/>
            <a:endCxn id="7" idx="2"/>
          </p:cNvCxnSpPr>
          <p:nvPr/>
        </p:nvCxnSpPr>
        <p:spPr>
          <a:xfrm flipV="1">
            <a:off x="1569072" y="2940599"/>
            <a:ext cx="1" cy="1498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538F6D2-3AC6-7056-41D4-BEA7B38C47A1}"/>
              </a:ext>
            </a:extLst>
          </p:cNvPr>
          <p:cNvSpPr txBox="1"/>
          <p:nvPr/>
        </p:nvSpPr>
        <p:spPr>
          <a:xfrm>
            <a:off x="1626647" y="3355429"/>
            <a:ext cx="178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78465546-B13E-6895-4D4A-D7B269C7DBD5}"/>
              </a:ext>
            </a:extLst>
          </p:cNvPr>
          <p:cNvSpPr/>
          <p:nvPr/>
        </p:nvSpPr>
        <p:spPr>
          <a:xfrm>
            <a:off x="2667005" y="4106432"/>
            <a:ext cx="450271" cy="1281491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F3FDF3-B697-4241-2316-100DE21616BC}"/>
              </a:ext>
            </a:extLst>
          </p:cNvPr>
          <p:cNvSpPr txBox="1"/>
          <p:nvPr/>
        </p:nvSpPr>
        <p:spPr>
          <a:xfrm>
            <a:off x="3148352" y="3792331"/>
            <a:ext cx="2455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Transfers only the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of interest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06DD04-C54B-9888-3335-127BF868BFB5}"/>
              </a:ext>
            </a:extLst>
          </p:cNvPr>
          <p:cNvSpPr txBox="1"/>
          <p:nvPr/>
        </p:nvSpPr>
        <p:spPr>
          <a:xfrm>
            <a:off x="3148352" y="5015344"/>
            <a:ext cx="2649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Reduced bandwidth consumption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Enhanced privacy preservation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4562E1A-D970-03D3-3A43-50DFF9D5EB7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376258" y="4438662"/>
            <a:ext cx="0" cy="497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1A31836-64FC-6920-3D29-2F0448BD18E7}"/>
              </a:ext>
            </a:extLst>
          </p:cNvPr>
          <p:cNvSpPr txBox="1"/>
          <p:nvPr/>
        </p:nvSpPr>
        <p:spPr>
          <a:xfrm>
            <a:off x="5798131" y="1231603"/>
            <a:ext cx="5253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Challenges of deploying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D3983B-0439-5873-B64A-C43C1A7E0BFF}"/>
              </a:ext>
            </a:extLst>
          </p:cNvPr>
          <p:cNvSpPr txBox="1"/>
          <p:nvPr/>
        </p:nvSpPr>
        <p:spPr>
          <a:xfrm>
            <a:off x="9230516" y="2783024"/>
            <a:ext cx="2476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huge computational and storage resources of training SE models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5530B2-E2D3-86C4-5293-2FD2DE85C2C2}"/>
              </a:ext>
            </a:extLst>
          </p:cNvPr>
          <p:cNvSpPr txBox="1"/>
          <p:nvPr/>
        </p:nvSpPr>
        <p:spPr>
          <a:xfrm>
            <a:off x="6296463" y="2121231"/>
            <a:ext cx="396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Resource-constraint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end devices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263282-E5C8-EE42-8B05-03DE48FF6C3D}"/>
              </a:ext>
            </a:extLst>
          </p:cNvPr>
          <p:cNvSpPr txBox="1"/>
          <p:nvPr/>
        </p:nvSpPr>
        <p:spPr>
          <a:xfrm>
            <a:off x="6835121" y="3964455"/>
            <a:ext cx="2892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Scalable implementation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AA3093C-365E-E4A7-59D3-D0ABFAE65614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8281253" y="2602885"/>
            <a:ext cx="0" cy="493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9E79CC-965A-B7A4-AE93-5DFCA9E004DC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8281251" y="3392888"/>
            <a:ext cx="2" cy="472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FE0A18C-6E03-6AF2-29F7-9927E02A727A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8354295" y="3244689"/>
            <a:ext cx="876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77BA006-BF08-03B1-973E-4BC19CAE94F3}"/>
              </a:ext>
            </a:extLst>
          </p:cNvPr>
          <p:cNvSpPr txBox="1"/>
          <p:nvPr/>
        </p:nvSpPr>
        <p:spPr>
          <a:xfrm>
            <a:off x="7952205" y="3063341"/>
            <a:ext cx="65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87055DD6-0AF9-65B5-61B3-4EB7574E6774}"/>
              </a:ext>
            </a:extLst>
          </p:cNvPr>
          <p:cNvSpPr/>
          <p:nvPr/>
        </p:nvSpPr>
        <p:spPr>
          <a:xfrm>
            <a:off x="6144061" y="4892644"/>
            <a:ext cx="2195866" cy="14735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842315E-6902-E345-CF3B-97575E164464}"/>
              </a:ext>
            </a:extLst>
          </p:cNvPr>
          <p:cNvSpPr txBox="1"/>
          <p:nvPr/>
        </p:nvSpPr>
        <p:spPr>
          <a:xfrm>
            <a:off x="6224113" y="4989578"/>
            <a:ext cx="2071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Improving the generalization capabilities of SE models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C816C94-0394-61B2-D4A2-58531D876710}"/>
              </a:ext>
            </a:extLst>
          </p:cNvPr>
          <p:cNvSpPr/>
          <p:nvPr/>
        </p:nvSpPr>
        <p:spPr>
          <a:xfrm>
            <a:off x="9154954" y="5049789"/>
            <a:ext cx="2399740" cy="11658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51DF5F-CB1C-237C-E85B-B87DCBB7A954}"/>
              </a:ext>
            </a:extLst>
          </p:cNvPr>
          <p:cNvSpPr txBox="1"/>
          <p:nvPr/>
        </p:nvSpPr>
        <p:spPr>
          <a:xfrm>
            <a:off x="9386456" y="5267242"/>
            <a:ext cx="1985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Other issues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(privacy loss, etc.)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D0D3AC60-F99A-76DE-4864-4625FA1BB37C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>
            <a:off x="8339927" y="5629404"/>
            <a:ext cx="815027" cy="3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86C962F1-C31F-AD9E-BAF9-538EF9AC3E1A}"/>
              </a:ext>
            </a:extLst>
          </p:cNvPr>
          <p:cNvSpPr/>
          <p:nvPr/>
        </p:nvSpPr>
        <p:spPr>
          <a:xfrm>
            <a:off x="5832765" y="1814950"/>
            <a:ext cx="6005944" cy="47936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E61D2BB-9156-F585-73DD-0DEC8C7E91D5}"/>
              </a:ext>
            </a:extLst>
          </p:cNvPr>
          <p:cNvSpPr txBox="1"/>
          <p:nvPr/>
        </p:nvSpPr>
        <p:spPr>
          <a:xfrm>
            <a:off x="353291" y="1225962"/>
            <a:ext cx="1683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9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574ED97-73B7-4DED-2046-B50696859402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E82D6895-718C-5072-D214-6BBAC334B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AD6D7C3-A40E-BBE8-6FE1-0B998EF7887A}"/>
              </a:ext>
            </a:extLst>
          </p:cNvPr>
          <p:cNvSpPr txBox="1"/>
          <p:nvPr/>
        </p:nvSpPr>
        <p:spPr>
          <a:xfrm>
            <a:off x="4514850" y="195032"/>
            <a:ext cx="3155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5EA98D-FAD8-145D-679B-E2F9055D0792}"/>
              </a:ext>
            </a:extLst>
          </p:cNvPr>
          <p:cNvSpPr txBox="1"/>
          <p:nvPr/>
        </p:nvSpPr>
        <p:spPr>
          <a:xfrm>
            <a:off x="353291" y="1258395"/>
            <a:ext cx="281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Bilateral benefits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7E55AD7-ABBA-FD41-7818-424EFEA61075}"/>
              </a:ext>
            </a:extLst>
          </p:cNvPr>
          <p:cNvSpPr/>
          <p:nvPr/>
        </p:nvSpPr>
        <p:spPr>
          <a:xfrm>
            <a:off x="7955131" y="2091178"/>
            <a:ext cx="2341333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1EE905-4508-1FF6-0D74-531FE56B8616}"/>
              </a:ext>
            </a:extLst>
          </p:cNvPr>
          <p:cNvSpPr txBox="1"/>
          <p:nvPr/>
        </p:nvSpPr>
        <p:spPr>
          <a:xfrm>
            <a:off x="8089908" y="2188111"/>
            <a:ext cx="2071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06B3D77-E786-636F-91FF-9CCA15C6E854}"/>
              </a:ext>
            </a:extLst>
          </p:cNvPr>
          <p:cNvSpPr/>
          <p:nvPr/>
        </p:nvSpPr>
        <p:spPr>
          <a:xfrm>
            <a:off x="1545406" y="2091178"/>
            <a:ext cx="2341333" cy="59397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C66A59-F5D0-0D68-12E9-33734477E6EF}"/>
              </a:ext>
            </a:extLst>
          </p:cNvPr>
          <p:cNvSpPr txBox="1"/>
          <p:nvPr/>
        </p:nvSpPr>
        <p:spPr>
          <a:xfrm>
            <a:off x="1618139" y="2188111"/>
            <a:ext cx="2195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Edge intelligence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30584A-F616-BDD6-AFE6-384973EC1319}"/>
              </a:ext>
            </a:extLst>
          </p:cNvPr>
          <p:cNvSpPr txBox="1"/>
          <p:nvPr/>
        </p:nvSpPr>
        <p:spPr>
          <a:xfrm>
            <a:off x="1113514" y="3266092"/>
            <a:ext cx="3294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More powerful computational processing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Massive data acquisition on edge networks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001AE1-7484-AD8E-0BE5-B46EC557A9E0}"/>
              </a:ext>
            </a:extLst>
          </p:cNvPr>
          <p:cNvSpPr txBox="1"/>
          <p:nvPr/>
        </p:nvSpPr>
        <p:spPr>
          <a:xfrm>
            <a:off x="1414849" y="5488815"/>
            <a:ext cx="2691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Scalable implementation of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systems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F12B06-0DCB-5D7E-9976-7BA2D08E5991}"/>
              </a:ext>
            </a:extLst>
          </p:cNvPr>
          <p:cNvSpPr/>
          <p:nvPr/>
        </p:nvSpPr>
        <p:spPr>
          <a:xfrm>
            <a:off x="914401" y="3099180"/>
            <a:ext cx="3692236" cy="17970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538056-4DD3-FD38-B9E8-9923BA557C9F}"/>
              </a:ext>
            </a:extLst>
          </p:cNvPr>
          <p:cNvSpPr/>
          <p:nvPr/>
        </p:nvSpPr>
        <p:spPr>
          <a:xfrm>
            <a:off x="914401" y="5375564"/>
            <a:ext cx="3692236" cy="8728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FF283D2-2430-BDF1-593F-FAF33364365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2760519" y="4896201"/>
            <a:ext cx="0" cy="47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628116F-9992-CB2F-05D9-558F428021E6}"/>
              </a:ext>
            </a:extLst>
          </p:cNvPr>
          <p:cNvSpPr txBox="1"/>
          <p:nvPr/>
        </p:nvSpPr>
        <p:spPr>
          <a:xfrm>
            <a:off x="7632098" y="3289074"/>
            <a:ext cx="3294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Reduced computational overheads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Reduced communication overheads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B66D13-FD27-D786-9A90-A3268E61D3D7}"/>
              </a:ext>
            </a:extLst>
          </p:cNvPr>
          <p:cNvSpPr txBox="1"/>
          <p:nvPr/>
        </p:nvSpPr>
        <p:spPr>
          <a:xfrm>
            <a:off x="7145503" y="5485399"/>
            <a:ext cx="4142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Distributed learning and inference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under uncertain wireless environment and limited wireless resources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BBD398-76CD-43D6-A8C0-42D76F2F30AA}"/>
              </a:ext>
            </a:extLst>
          </p:cNvPr>
          <p:cNvSpPr/>
          <p:nvPr/>
        </p:nvSpPr>
        <p:spPr>
          <a:xfrm>
            <a:off x="7370640" y="3106108"/>
            <a:ext cx="3692236" cy="17970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E637E6-1613-3D26-7D47-8466A5207DB1}"/>
              </a:ext>
            </a:extLst>
          </p:cNvPr>
          <p:cNvSpPr/>
          <p:nvPr/>
        </p:nvSpPr>
        <p:spPr>
          <a:xfrm>
            <a:off x="6982691" y="5382492"/>
            <a:ext cx="4475017" cy="11291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25ADFCE-7F8C-F3B6-EA79-14A01DB92603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9216758" y="4903129"/>
            <a:ext cx="3442" cy="479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97FEB8A-A815-B20B-9D30-A12EF94E1675}"/>
              </a:ext>
            </a:extLst>
          </p:cNvPr>
          <p:cNvCxnSpPr/>
          <p:nvPr/>
        </p:nvCxnSpPr>
        <p:spPr>
          <a:xfrm>
            <a:off x="4253346" y="2251364"/>
            <a:ext cx="33164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304F0E3-E780-DD09-059F-E91F5051051B}"/>
              </a:ext>
            </a:extLst>
          </p:cNvPr>
          <p:cNvCxnSpPr/>
          <p:nvPr/>
        </p:nvCxnSpPr>
        <p:spPr>
          <a:xfrm flipH="1">
            <a:off x="4225637" y="2525876"/>
            <a:ext cx="33441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97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023B2D8-0FC5-D1E7-0FDD-9788B0D20794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DB1C5CD6-371B-36C3-6B65-F38AA236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9E9BFB-44D6-FB9E-2592-01467D630666}"/>
              </a:ext>
            </a:extLst>
          </p:cNvPr>
          <p:cNvSpPr txBox="1"/>
          <p:nvPr/>
        </p:nvSpPr>
        <p:spPr>
          <a:xfrm>
            <a:off x="4514850" y="195032"/>
            <a:ext cx="3155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33FD69-E2F1-8257-2F94-80248D2BD523}"/>
              </a:ext>
            </a:extLst>
          </p:cNvPr>
          <p:cNvSpPr txBox="1"/>
          <p:nvPr/>
        </p:nvSpPr>
        <p:spPr>
          <a:xfrm>
            <a:off x="353291" y="1258395"/>
            <a:ext cx="2815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Contributions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6C0616-DD2F-AF63-1883-90C76C257359}"/>
              </a:ext>
            </a:extLst>
          </p:cNvPr>
          <p:cNvSpPr txBox="1"/>
          <p:nvPr/>
        </p:nvSpPr>
        <p:spPr>
          <a:xfrm>
            <a:off x="1039090" y="2354887"/>
            <a:ext cx="10522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Introduce a general model system for </a:t>
            </a:r>
            <a:r>
              <a:rPr lang="en-US" altLang="zh-CN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Introduce </a:t>
            </a:r>
            <a:r>
              <a:rPr lang="en-US" altLang="zh-CN" sz="200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2000" i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by studying a </a:t>
            </a:r>
            <a:r>
              <a:rPr lang="en-US" altLang="zh-CN" sz="200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Federated Learning</a:t>
            </a: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enabled SE system model and </a:t>
            </a:r>
            <a:r>
              <a:rPr lang="en-US" altLang="zh-CN" sz="200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edge-sharing knowledge graph</a:t>
            </a: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for semantic management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Introduce the role of </a:t>
            </a:r>
            <a:r>
              <a:rPr lang="en-US" altLang="zh-CN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training intelligent agents and empowering communication-efficient </a:t>
            </a:r>
            <a:r>
              <a:rPr lang="en-US" altLang="zh-CN" sz="200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distributed machine learning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Discuss open issues and future research directions toward </a:t>
            </a:r>
            <a:r>
              <a:rPr lang="en-US" altLang="zh-CN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a case study of semantic-aware resource allocation in wireless powered IoT</a:t>
            </a:r>
          </a:p>
        </p:txBody>
      </p:sp>
    </p:spTree>
    <p:extLst>
      <p:ext uri="{BB962C8B-B14F-4D97-AF65-F5344CB8AC3E}">
        <p14:creationId xmlns:p14="http://schemas.microsoft.com/office/powerpoint/2010/main" val="257228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65D79812-0297-099C-CBBE-B5EAA17515B4}"/>
              </a:ext>
            </a:extLst>
          </p:cNvPr>
          <p:cNvSpPr/>
          <p:nvPr/>
        </p:nvSpPr>
        <p:spPr>
          <a:xfrm>
            <a:off x="353291" y="1939362"/>
            <a:ext cx="4450777" cy="4773166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5C42784-E768-2017-1701-3599885DD1EC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884CDEB2-4AAE-04B6-9E7B-F23DE86BC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78C516-8E24-4284-5E89-E1917FD33D6C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8A00B7-C923-1F98-7269-16FF73B4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586" y="1821576"/>
            <a:ext cx="6597123" cy="40111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BA52A09-1B9A-6E30-4722-ECF6D628EB0B}"/>
              </a:ext>
            </a:extLst>
          </p:cNvPr>
          <p:cNvSpPr txBox="1"/>
          <p:nvPr/>
        </p:nvSpPr>
        <p:spPr>
          <a:xfrm>
            <a:off x="353291" y="1258395"/>
            <a:ext cx="3484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framework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111D0D-AC19-2E5A-ED87-AC5C01AF3014}"/>
              </a:ext>
            </a:extLst>
          </p:cNvPr>
          <p:cNvSpPr txBox="1"/>
          <p:nvPr/>
        </p:nvSpPr>
        <p:spPr>
          <a:xfrm>
            <a:off x="727362" y="2066714"/>
            <a:ext cx="3906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concern</a:t>
            </a:r>
          </a:p>
          <a:p>
            <a:pPr algn="ctr"/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accuracy of semantic content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34E4B7-CA48-CBF9-821F-11C32B81F7BD}"/>
              </a:ext>
            </a:extLst>
          </p:cNvPr>
          <p:cNvSpPr txBox="1"/>
          <p:nvPr/>
        </p:nvSpPr>
        <p:spPr>
          <a:xfrm>
            <a:off x="503956" y="3117877"/>
            <a:ext cx="42135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Semantic representation module removes redundant information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knowledge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should be share in real-time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 BK fails to match: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noise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Goal of communication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All possibilities of goals should be included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 instruct SE to filter out irrelevant information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A9137B-96C2-FB2B-77E6-6902F17D95AD}"/>
              </a:ext>
            </a:extLst>
          </p:cNvPr>
          <p:cNvSpPr txBox="1"/>
          <p:nvPr/>
        </p:nvSpPr>
        <p:spPr>
          <a:xfrm>
            <a:off x="6586655" y="5887866"/>
            <a:ext cx="390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1.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65585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37F54E2-BE6D-5DBC-F49F-3C292E3C7B2F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39065EAF-B834-CD0B-C8DD-533B6682B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AD4B389-6AE6-79CA-91FF-D6D030F813D4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7817F2-CBA0-0FBB-2344-4FAAEFD05651}"/>
              </a:ext>
            </a:extLst>
          </p:cNvPr>
          <p:cNvSpPr txBox="1"/>
          <p:nvPr/>
        </p:nvSpPr>
        <p:spPr>
          <a:xfrm>
            <a:off x="353291" y="1258395"/>
            <a:ext cx="293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metrics</a:t>
            </a:r>
          </a:p>
        </p:txBody>
      </p:sp>
      <p:sp>
        <p:nvSpPr>
          <p:cNvPr id="6" name="矩形: 剪去对角 5">
            <a:extLst>
              <a:ext uri="{FF2B5EF4-FFF2-40B4-BE49-F238E27FC236}">
                <a16:creationId xmlns:a16="http://schemas.microsoft.com/office/drawing/2014/main" id="{7E0D4D70-BC64-A861-D780-F1DE6067308B}"/>
              </a:ext>
            </a:extLst>
          </p:cNvPr>
          <p:cNvSpPr/>
          <p:nvPr/>
        </p:nvSpPr>
        <p:spPr>
          <a:xfrm>
            <a:off x="405246" y="1897798"/>
            <a:ext cx="3813463" cy="4773166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19967E-1CBE-0D98-735E-8DB78AF41C2E}"/>
              </a:ext>
            </a:extLst>
          </p:cNvPr>
          <p:cNvSpPr txBox="1"/>
          <p:nvPr/>
        </p:nvSpPr>
        <p:spPr>
          <a:xfrm>
            <a:off x="1027832" y="2109142"/>
            <a:ext cx="2666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Metrics derived from NLP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87E6EB-C374-5FF6-B42C-D70C3B3D5B60}"/>
              </a:ext>
            </a:extLst>
          </p:cNvPr>
          <p:cNvSpPr txBox="1"/>
          <p:nvPr/>
        </p:nvSpPr>
        <p:spPr>
          <a:xfrm>
            <a:off x="454600" y="3178242"/>
            <a:ext cx="37147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Avoid treating packets equally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Measure the differences by the recovered sentence and transmitted sentence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3C34B3-F6C8-7C17-7C72-D690C1C5018E}"/>
              </a:ext>
            </a:extLst>
          </p:cNvPr>
          <p:cNvSpPr/>
          <p:nvPr/>
        </p:nvSpPr>
        <p:spPr>
          <a:xfrm>
            <a:off x="630382" y="4745182"/>
            <a:ext cx="3168358" cy="15915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029A26-60C0-4397-9D8E-54A7A8645E13}"/>
              </a:ext>
            </a:extLst>
          </p:cNvPr>
          <p:cNvSpPr txBox="1"/>
          <p:nvPr/>
        </p:nvSpPr>
        <p:spPr>
          <a:xfrm>
            <a:off x="668262" y="5534329"/>
            <a:ext cx="3092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Bit-error rate (BER)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Symbol-error rate (SER)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0C14B3-E5E7-1A24-3297-CD91BDB3C14F}"/>
              </a:ext>
            </a:extLst>
          </p:cNvPr>
          <p:cNvSpPr txBox="1"/>
          <p:nvPr/>
        </p:nvSpPr>
        <p:spPr>
          <a:xfrm>
            <a:off x="689262" y="4868515"/>
            <a:ext cx="3092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Metrics in classical communication systems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9726AC6-B962-EC83-71F7-D901E6822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777970"/>
              </p:ext>
            </p:extLst>
          </p:nvPr>
        </p:nvGraphicFramePr>
        <p:xfrm>
          <a:off x="4696690" y="1897799"/>
          <a:ext cx="7142019" cy="4238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673">
                  <a:extLst>
                    <a:ext uri="{9D8B030D-6E8A-4147-A177-3AD203B41FA5}">
                      <a16:colId xmlns:a16="http://schemas.microsoft.com/office/drawing/2014/main" val="3481451862"/>
                    </a:ext>
                  </a:extLst>
                </a:gridCol>
                <a:gridCol w="2380673">
                  <a:extLst>
                    <a:ext uri="{9D8B030D-6E8A-4147-A177-3AD203B41FA5}">
                      <a16:colId xmlns:a16="http://schemas.microsoft.com/office/drawing/2014/main" val="2165946094"/>
                    </a:ext>
                  </a:extLst>
                </a:gridCol>
                <a:gridCol w="2380673">
                  <a:extLst>
                    <a:ext uri="{9D8B030D-6E8A-4147-A177-3AD203B41FA5}">
                      <a16:colId xmlns:a16="http://schemas.microsoft.com/office/drawing/2014/main" val="3565456222"/>
                    </a:ext>
                  </a:extLst>
                </a:gridCol>
              </a:tblGrid>
              <a:tr h="3978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Semantic metrics</a:t>
                      </a:r>
                      <a:endParaRPr lang="zh-CN" altLang="en-US" sz="1800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Advantages</a:t>
                      </a:r>
                      <a:endParaRPr lang="zh-CN" altLang="en-US" sz="1800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Disadvantages</a:t>
                      </a:r>
                      <a:endParaRPr lang="zh-CN" altLang="en-US" sz="1800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38129"/>
                  </a:ext>
                </a:extLst>
              </a:tr>
              <a:tr h="1015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Bilingual evaluation understudy (BLEU)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It considers the linguistic laws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It only calculates the differences of words between two sentences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30171"/>
                  </a:ext>
                </a:extLst>
              </a:tr>
              <a:tr h="1249802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Consensus based Image Description Evaluation (</a:t>
                      </a:r>
                      <a:r>
                        <a:rPr lang="en-US" altLang="zh-CN" dirty="0" err="1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CIDEr</a:t>
                      </a:r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)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It evaluate semantic similarity on the basis of a set of sentences with the same meaning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Similar to BLEU, it is also based on the comparisons between word groups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385576"/>
                  </a:ext>
                </a:extLst>
              </a:tr>
              <a:tr h="1015464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Sentence similarity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The SI in this metric is viewed from a sentence level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Georgia" panose="02040502050405020303" pitchFamily="18" charset="0"/>
                          <a:cs typeface="Arial" panose="020B0604020202020204" pitchFamily="34" charset="0"/>
                        </a:rPr>
                        <a:t>much resource consumption, worse generalization capability</a:t>
                      </a:r>
                      <a:endParaRPr lang="zh-CN" altLang="en-US" dirty="0">
                        <a:latin typeface="Georgia" panose="02040502050405020303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572602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597B8032-AD06-F9E8-4221-402F9C1BF9E7}"/>
              </a:ext>
            </a:extLst>
          </p:cNvPr>
          <p:cNvSpPr txBox="1"/>
          <p:nvPr/>
        </p:nvSpPr>
        <p:spPr>
          <a:xfrm>
            <a:off x="5530835" y="6241156"/>
            <a:ext cx="547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Table 1. Some semantic metrics derived from NLP</a:t>
            </a:r>
          </a:p>
        </p:txBody>
      </p:sp>
    </p:spTree>
    <p:extLst>
      <p:ext uri="{BB962C8B-B14F-4D97-AF65-F5344CB8AC3E}">
        <p14:creationId xmlns:p14="http://schemas.microsoft.com/office/powerpoint/2010/main" val="263834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E795B0E-F042-4C4C-B23B-1DA5EACF91F1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6419CC7A-4A9C-80FB-F964-CC3856103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0045D41-539A-A4C0-FC9B-C67BF7A96C67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8EC929-226E-648C-AA9A-DB4C6E23F264}"/>
              </a:ext>
            </a:extLst>
          </p:cNvPr>
          <p:cNvSpPr txBox="1"/>
          <p:nvPr/>
        </p:nvSpPr>
        <p:spPr>
          <a:xfrm>
            <a:off x="353291" y="1258395"/>
            <a:ext cx="2937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metrics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1A800A-214C-7EEA-8FC9-03CE2CF1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12" y="1721573"/>
            <a:ext cx="10415152" cy="41937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1A98FD-87EF-2BAD-51AD-2682F974968C}"/>
                  </a:ext>
                </a:extLst>
              </p:cNvPr>
              <p:cNvSpPr txBox="1"/>
              <p:nvPr/>
            </p:nvSpPr>
            <p:spPr>
              <a:xfrm>
                <a:off x="1023501" y="6047075"/>
                <a:ext cx="102142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Fig 2. Some </a:t>
                </a:r>
                <a:r>
                  <a:rPr lang="en-US" altLang="zh-C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SemCom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examples and metrics,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transmitted information,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estimated information inferred from the transmission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D1A98FD-87EF-2BAD-51AD-2682F9749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01" y="6047075"/>
                <a:ext cx="10214265" cy="646331"/>
              </a:xfrm>
              <a:prstGeom prst="rect">
                <a:avLst/>
              </a:prstGeom>
              <a:blipFill>
                <a:blip r:embed="rId4"/>
                <a:stretch>
                  <a:fillRect l="-537" t="-5660" r="-155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5979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497421D-4D51-9FBC-D4AB-D0D84CFCB795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74DD0983-065D-6928-7716-542779B22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1E9B274-150A-FF57-E503-6B7FC51E6932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B977F8-69D6-6AEF-7757-E4A41BAA15E6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extraction techniques</a:t>
            </a:r>
          </a:p>
        </p:txBody>
      </p:sp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C3751D2A-AA3E-AF85-659B-A30CCD375342}"/>
              </a:ext>
            </a:extLst>
          </p:cNvPr>
          <p:cNvSpPr/>
          <p:nvPr/>
        </p:nvSpPr>
        <p:spPr>
          <a:xfrm>
            <a:off x="405247" y="1897798"/>
            <a:ext cx="4623954" cy="4773166"/>
          </a:xfrm>
          <a:prstGeom prst="snip2DiagRect">
            <a:avLst>
              <a:gd name="adj1" fmla="val 0"/>
              <a:gd name="adj2" fmla="val 1797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2B0332-EBED-4008-AC00-037AF69E5396}"/>
              </a:ext>
            </a:extLst>
          </p:cNvPr>
          <p:cNvSpPr txBox="1"/>
          <p:nvPr/>
        </p:nvSpPr>
        <p:spPr>
          <a:xfrm>
            <a:off x="629160" y="2301951"/>
            <a:ext cx="41761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Deep Learning Based SE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 enhance the system  robustness at a low SNR with a shorter bit-flow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Encoder and decoder are trained jointly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GANs are used to model the channel dynamics and noise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Adopt cross entropy as the loss function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Drawback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 treat the semantic contribution of data equally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966EE9-0152-B180-9A80-1AD8251D0D59}"/>
              </a:ext>
            </a:extLst>
          </p:cNvPr>
          <p:cNvSpPr txBox="1"/>
          <p:nvPr/>
        </p:nvSpPr>
        <p:spPr>
          <a:xfrm>
            <a:off x="6177946" y="5506866"/>
            <a:ext cx="462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3 (a). System model of DL-based SE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338522-1A9B-AEC9-E749-3D7058642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166" y="2211897"/>
            <a:ext cx="5825514" cy="30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2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497421D-4D51-9FBC-D4AB-D0D84CFCB795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74DD0983-065D-6928-7716-542779B22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1E9B274-150A-FF57-E503-6B7FC51E6932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B977F8-69D6-6AEF-7757-E4A41BAA15E6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extraction techniques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6BCD7F2-E829-0A5F-D25A-E94FC39B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566" y="2332834"/>
            <a:ext cx="6629398" cy="3038171"/>
          </a:xfrm>
          <a:prstGeom prst="rect">
            <a:avLst/>
          </a:prstGeom>
        </p:spPr>
      </p:pic>
      <p:sp>
        <p:nvSpPr>
          <p:cNvPr id="6" name="矩形: 剪去对角 5">
            <a:extLst>
              <a:ext uri="{FF2B5EF4-FFF2-40B4-BE49-F238E27FC236}">
                <a16:creationId xmlns:a16="http://schemas.microsoft.com/office/drawing/2014/main" id="{78DD228A-8152-3F8A-8DCC-CFC9676800E7}"/>
              </a:ext>
            </a:extLst>
          </p:cNvPr>
          <p:cNvSpPr/>
          <p:nvPr/>
        </p:nvSpPr>
        <p:spPr>
          <a:xfrm>
            <a:off x="405247" y="1897798"/>
            <a:ext cx="4866408" cy="4773166"/>
          </a:xfrm>
          <a:prstGeom prst="snip2DiagRect">
            <a:avLst>
              <a:gd name="adj1" fmla="val 0"/>
              <a:gd name="adj2" fmla="val 1797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08F4C8-ABC5-0FE6-5AD3-473B0ADBBCF7}"/>
              </a:ext>
            </a:extLst>
          </p:cNvPr>
          <p:cNvSpPr txBox="1"/>
          <p:nvPr/>
        </p:nvSpPr>
        <p:spPr>
          <a:xfrm>
            <a:off x="623067" y="2054316"/>
            <a:ext cx="464858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Deep Reinforcement Learning Based SE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Encoder &amp; Decoder: LSTM networks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State: the recurrent state of the decoder and generated words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Transmission between 2 states: determined by the next word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Action of the DRL agent: generate a new word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Self-critic training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 identify the intermediate rewards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Non-sequential task: transformed into a recurrent procedure beforehand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963DA2-940D-9625-568B-75197F8B1C3C}"/>
              </a:ext>
            </a:extLst>
          </p:cNvPr>
          <p:cNvSpPr txBox="1"/>
          <p:nvPr/>
        </p:nvSpPr>
        <p:spPr>
          <a:xfrm>
            <a:off x="6177946" y="5506866"/>
            <a:ext cx="462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3 (b). System model of DRL-based SE</a:t>
            </a:r>
          </a:p>
        </p:txBody>
      </p:sp>
    </p:spTree>
    <p:extLst>
      <p:ext uri="{BB962C8B-B14F-4D97-AF65-F5344CB8AC3E}">
        <p14:creationId xmlns:p14="http://schemas.microsoft.com/office/powerpoint/2010/main" val="234710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815248D-9306-AA16-6038-14CD09790FF4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AB49986C-85D5-5593-2C7E-4D19D311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F4BF131-151D-7F23-4ACF-3E0BF174C555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54066C-BFEF-17EF-B434-154D29002B53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extraction techniques</a:t>
            </a:r>
          </a:p>
        </p:txBody>
      </p:sp>
      <p:sp>
        <p:nvSpPr>
          <p:cNvPr id="6" name="矩形: 剪去对角 5">
            <a:extLst>
              <a:ext uri="{FF2B5EF4-FFF2-40B4-BE49-F238E27FC236}">
                <a16:creationId xmlns:a16="http://schemas.microsoft.com/office/drawing/2014/main" id="{CCA5D602-3A89-E79C-3D63-C933245E25A9}"/>
              </a:ext>
            </a:extLst>
          </p:cNvPr>
          <p:cNvSpPr/>
          <p:nvPr/>
        </p:nvSpPr>
        <p:spPr>
          <a:xfrm>
            <a:off x="405247" y="1897798"/>
            <a:ext cx="4866408" cy="4773166"/>
          </a:xfrm>
          <a:prstGeom prst="snip2DiagRect">
            <a:avLst>
              <a:gd name="adj1" fmla="val 0"/>
              <a:gd name="adj2" fmla="val 1797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F910BD-EFAC-2729-1201-B49B3576F931}"/>
              </a:ext>
            </a:extLst>
          </p:cNvPr>
          <p:cNvSpPr txBox="1"/>
          <p:nvPr/>
        </p:nvSpPr>
        <p:spPr>
          <a:xfrm>
            <a:off x="500496" y="2268444"/>
            <a:ext cx="462395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Base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Assisted SE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Composition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Source information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Communication tasks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Possible ways of reasoning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Quantify the level of relevance of SI (semantic information) for different tasks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Instruct SE to capture SI of interest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Synchronization on both sides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61B11A2-9B93-0A21-2ADD-9B1A90458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510" y="1897798"/>
            <a:ext cx="5250872" cy="37863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BA65AC7-D190-7941-133D-CD19F571BDC7}"/>
              </a:ext>
            </a:extLst>
          </p:cNvPr>
          <p:cNvSpPr txBox="1"/>
          <p:nvPr/>
        </p:nvSpPr>
        <p:spPr>
          <a:xfrm>
            <a:off x="6360969" y="5684114"/>
            <a:ext cx="4623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3 (c). System model of KB-assisted SE</a:t>
            </a:r>
          </a:p>
        </p:txBody>
      </p:sp>
    </p:spTree>
    <p:extLst>
      <p:ext uri="{BB962C8B-B14F-4D97-AF65-F5344CB8AC3E}">
        <p14:creationId xmlns:p14="http://schemas.microsoft.com/office/powerpoint/2010/main" val="3750084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71337A1-E501-6E3C-4CFE-EC5509A518FC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A13A2D27-D88B-5338-8996-8F154EC70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D826DC4-B10C-BAC1-7098-0764DC21FF86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04AD14-4BB5-75C5-57D2-2C13706C7680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 extraction techniques</a:t>
            </a:r>
          </a:p>
        </p:txBody>
      </p:sp>
      <p:sp>
        <p:nvSpPr>
          <p:cNvPr id="6" name="矩形: 剪去对角 5">
            <a:extLst>
              <a:ext uri="{FF2B5EF4-FFF2-40B4-BE49-F238E27FC236}">
                <a16:creationId xmlns:a16="http://schemas.microsoft.com/office/drawing/2014/main" id="{0963FCB6-434D-0BB4-81AE-80E37DA78379}"/>
              </a:ext>
            </a:extLst>
          </p:cNvPr>
          <p:cNvSpPr/>
          <p:nvPr/>
        </p:nvSpPr>
        <p:spPr>
          <a:xfrm>
            <a:off x="405247" y="1897798"/>
            <a:ext cx="4623954" cy="4773166"/>
          </a:xfrm>
          <a:prstGeom prst="snip2DiagRect">
            <a:avLst>
              <a:gd name="adj1" fmla="val 0"/>
              <a:gd name="adj2" fmla="val 17978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CF46CA-02A0-1EB5-812F-BBE6F52F678F}"/>
              </a:ext>
            </a:extLst>
          </p:cNvPr>
          <p:cNvSpPr txBox="1"/>
          <p:nvPr/>
        </p:nvSpPr>
        <p:spPr>
          <a:xfrm>
            <a:off x="629160" y="2301951"/>
            <a:ext cx="41761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Semantic Native SE</a:t>
            </a:r>
          </a:p>
          <a:p>
            <a:pPr marL="457200" indent="-457200">
              <a:buFont typeface="Wingdings" panose="05000000000000000000" pitchFamily="2" charset="2"/>
              <a:buChar char="p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Learned from iterative communications between intelligent agents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Communication parties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capabilities of contextual reasoning about the semantics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Promoted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intelligentization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of communication systems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97DA26-8E43-78D9-3FA5-B4A3E108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65" y="1897798"/>
            <a:ext cx="5538726" cy="391916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4623409-781B-0F54-1C5E-2DF3A4D69BC6}"/>
              </a:ext>
            </a:extLst>
          </p:cNvPr>
          <p:cNvSpPr txBox="1"/>
          <p:nvPr/>
        </p:nvSpPr>
        <p:spPr>
          <a:xfrm>
            <a:off x="6197594" y="5816967"/>
            <a:ext cx="495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3 (d). System model of Semantic native SE</a:t>
            </a:r>
          </a:p>
        </p:txBody>
      </p:sp>
    </p:spTree>
    <p:extLst>
      <p:ext uri="{BB962C8B-B14F-4D97-AF65-F5344CB8AC3E}">
        <p14:creationId xmlns:p14="http://schemas.microsoft.com/office/powerpoint/2010/main" val="17553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020F9F9-8833-E8AA-4E2D-3E3F29B3F521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E98C1762-AC16-94FC-341E-B7E6E0BD7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0B5F6D8-C492-15DD-C257-D093BA4A7920}"/>
              </a:ext>
            </a:extLst>
          </p:cNvPr>
          <p:cNvSpPr txBox="1"/>
          <p:nvPr/>
        </p:nvSpPr>
        <p:spPr>
          <a:xfrm>
            <a:off x="4388427" y="194170"/>
            <a:ext cx="3415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Preliminaries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C600C0-9F88-CA0B-F1CC-7F1A745024AE}"/>
              </a:ext>
            </a:extLst>
          </p:cNvPr>
          <p:cNvSpPr txBox="1"/>
          <p:nvPr/>
        </p:nvSpPr>
        <p:spPr>
          <a:xfrm>
            <a:off x="353291" y="1258395"/>
            <a:ext cx="658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Comparisons among different SE techniques</a:t>
            </a:r>
          </a:p>
        </p:txBody>
      </p:sp>
      <p:pic>
        <p:nvPicPr>
          <p:cNvPr id="11" name="图片 10" descr="不同颜色的遥控器&#10;&#10;AI 生成的内容可能不正确。">
            <a:extLst>
              <a:ext uri="{FF2B5EF4-FFF2-40B4-BE49-F238E27FC236}">
                <a16:creationId xmlns:a16="http://schemas.microsoft.com/office/drawing/2014/main" id="{08D3F56A-AB92-23AE-4485-7048E1A9E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052" y="1897798"/>
            <a:ext cx="7715896" cy="43192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A1D1EC2-1A47-24E1-8251-6A77808D2DC3}"/>
              </a:ext>
            </a:extLst>
          </p:cNvPr>
          <p:cNvSpPr txBox="1"/>
          <p:nvPr/>
        </p:nvSpPr>
        <p:spPr>
          <a:xfrm>
            <a:off x="214203" y="2585692"/>
            <a:ext cx="196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used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6D39B7-41E9-C4B2-EE94-9E00CE84BB04}"/>
              </a:ext>
            </a:extLst>
          </p:cNvPr>
          <p:cNvSpPr txBox="1"/>
          <p:nvPr/>
        </p:nvSpPr>
        <p:spPr>
          <a:xfrm>
            <a:off x="353291" y="4541149"/>
            <a:ext cx="1960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Only validated for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 classification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CC1380-58BA-330D-E88D-BFC6E95C598E}"/>
              </a:ext>
            </a:extLst>
          </p:cNvPr>
          <p:cNvSpPr txBox="1"/>
          <p:nvPr/>
        </p:nvSpPr>
        <p:spPr>
          <a:xfrm>
            <a:off x="10017379" y="2026073"/>
            <a:ext cx="19604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Better performance than (a) with huge computational resource consumption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A99C66-B0B8-81F5-4526-77EF9E85B753}"/>
              </a:ext>
            </a:extLst>
          </p:cNvPr>
          <p:cNvSpPr txBox="1"/>
          <p:nvPr/>
        </p:nvSpPr>
        <p:spPr>
          <a:xfrm>
            <a:off x="10100506" y="4541149"/>
            <a:ext cx="1960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theoretical proposition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currently</a:t>
            </a:r>
          </a:p>
        </p:txBody>
      </p:sp>
    </p:spTree>
    <p:extLst>
      <p:ext uri="{BB962C8B-B14F-4D97-AF65-F5344CB8AC3E}">
        <p14:creationId xmlns:p14="http://schemas.microsoft.com/office/powerpoint/2010/main" val="241047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EC8E41F-2F17-2F1C-7697-2277583BB1D4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973036C4-35BF-6110-17FD-4483714DFA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D1F7006-DC75-0FBE-EA27-D57E21C4EEA0}"/>
              </a:ext>
            </a:extLst>
          </p:cNvPr>
          <p:cNvSpPr txBox="1"/>
          <p:nvPr/>
        </p:nvSpPr>
        <p:spPr>
          <a:xfrm>
            <a:off x="2966605" y="194170"/>
            <a:ext cx="625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40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4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CBD74F-DD31-7FCF-DEC0-4D4AFD04E791}"/>
              </a:ext>
            </a:extLst>
          </p:cNvPr>
          <p:cNvSpPr txBox="1"/>
          <p:nvPr/>
        </p:nvSpPr>
        <p:spPr>
          <a:xfrm>
            <a:off x="353291" y="1258395"/>
            <a:ext cx="2154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2808E6-C255-2399-8BA6-B6B30803FFCD}"/>
              </a:ext>
            </a:extLst>
          </p:cNvPr>
          <p:cNvSpPr/>
          <p:nvPr/>
        </p:nvSpPr>
        <p:spPr>
          <a:xfrm>
            <a:off x="2493818" y="1937313"/>
            <a:ext cx="7460674" cy="207357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169211-8865-989C-3BC6-AFE652C57320}"/>
              </a:ext>
            </a:extLst>
          </p:cNvPr>
          <p:cNvSpPr txBox="1"/>
          <p:nvPr/>
        </p:nvSpPr>
        <p:spPr>
          <a:xfrm>
            <a:off x="4104879" y="2084300"/>
            <a:ext cx="4238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Paradigm of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Understand-Before-Transmission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937093-3632-18EB-DED8-AE0B525EF645}"/>
              </a:ext>
            </a:extLst>
          </p:cNvPr>
          <p:cNvSpPr/>
          <p:nvPr/>
        </p:nvSpPr>
        <p:spPr>
          <a:xfrm>
            <a:off x="6470073" y="2890090"/>
            <a:ext cx="3228109" cy="8413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8A662E-C6EE-DEC7-0F6C-C73E4FC925A4}"/>
              </a:ext>
            </a:extLst>
          </p:cNvPr>
          <p:cNvSpPr txBox="1"/>
          <p:nvPr/>
        </p:nvSpPr>
        <p:spPr>
          <a:xfrm>
            <a:off x="6470073" y="2980266"/>
            <a:ext cx="32281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Costly training &amp; inference for SE models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7572023-8110-8819-4636-14F60EC56758}"/>
              </a:ext>
            </a:extLst>
          </p:cNvPr>
          <p:cNvSpPr/>
          <p:nvPr/>
        </p:nvSpPr>
        <p:spPr>
          <a:xfrm>
            <a:off x="2867891" y="2902508"/>
            <a:ext cx="3228109" cy="8413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C567DA-3E04-0355-CD10-D0262EEB6902}"/>
              </a:ext>
            </a:extLst>
          </p:cNvPr>
          <p:cNvSpPr txBox="1"/>
          <p:nvPr/>
        </p:nvSpPr>
        <p:spPr>
          <a:xfrm>
            <a:off x="3576755" y="3123152"/>
            <a:ext cx="1823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shared KB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E3AEC8-F64D-28BC-6B60-439CF4A3D37E}"/>
              </a:ext>
            </a:extLst>
          </p:cNvPr>
          <p:cNvSpPr txBox="1"/>
          <p:nvPr/>
        </p:nvSpPr>
        <p:spPr>
          <a:xfrm>
            <a:off x="7713852" y="4815899"/>
            <a:ext cx="396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Resource-constraint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end devices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01F449-BA53-0826-3945-63222FA2547D}"/>
              </a:ext>
            </a:extLst>
          </p:cNvPr>
          <p:cNvSpPr txBox="1"/>
          <p:nvPr/>
        </p:nvSpPr>
        <p:spPr>
          <a:xfrm>
            <a:off x="7713851" y="5591527"/>
            <a:ext cx="396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Long latency in training &amp; updating SE models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48A958F-05A8-9207-7957-F9F684694464}"/>
              </a:ext>
            </a:extLst>
          </p:cNvPr>
          <p:cNvSpPr txBox="1"/>
          <p:nvPr/>
        </p:nvSpPr>
        <p:spPr>
          <a:xfrm>
            <a:off x="625282" y="4756732"/>
            <a:ext cx="3351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sharing of knowledge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among devices 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3AC034-6936-3B18-4AD1-C9C352E62412}"/>
              </a:ext>
            </a:extLst>
          </p:cNvPr>
          <p:cNvSpPr txBox="1"/>
          <p:nvPr/>
        </p:nvSpPr>
        <p:spPr>
          <a:xfrm>
            <a:off x="395054" y="5825619"/>
            <a:ext cx="381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Bandwidth cost and privacy loss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9E7FF4-39ED-E46D-0377-493162867FF5}"/>
              </a:ext>
            </a:extLst>
          </p:cNvPr>
          <p:cNvSpPr/>
          <p:nvPr/>
        </p:nvSpPr>
        <p:spPr>
          <a:xfrm>
            <a:off x="353291" y="4488874"/>
            <a:ext cx="11485418" cy="20735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A46CAF3-5C4F-C47E-F7DD-E1C9E80E36FB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300818" y="5403063"/>
            <a:ext cx="2909" cy="42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791E0C3-DB61-81F0-802F-45B366B634FB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9698182" y="5185231"/>
            <a:ext cx="1" cy="406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EEFFDFC-C24B-B10A-F1CD-2D8364F79B9A}"/>
              </a:ext>
            </a:extLst>
          </p:cNvPr>
          <p:cNvSpPr txBox="1"/>
          <p:nvPr/>
        </p:nvSpPr>
        <p:spPr>
          <a:xfrm>
            <a:off x="4162729" y="4790492"/>
            <a:ext cx="3595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Task-specific and separately-trained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SE models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4AFE08A-B56C-7C7A-CD91-8B3EDD98A3B9}"/>
              </a:ext>
            </a:extLst>
          </p:cNvPr>
          <p:cNvSpPr txBox="1"/>
          <p:nvPr/>
        </p:nvSpPr>
        <p:spPr>
          <a:xfrm>
            <a:off x="4366327" y="5825619"/>
            <a:ext cx="319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Computationally inefficient</a:t>
            </a:r>
            <a:endParaRPr lang="zh-CN" alt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BCD38B7-1AE4-99E3-6E96-264CBF216E03}"/>
              </a:ext>
            </a:extLst>
          </p:cNvPr>
          <p:cNvCxnSpPr>
            <a:stCxn id="28" idx="2"/>
            <a:endCxn id="31" idx="0"/>
          </p:cNvCxnSpPr>
          <p:nvPr/>
        </p:nvCxnSpPr>
        <p:spPr>
          <a:xfrm>
            <a:off x="5960683" y="5436823"/>
            <a:ext cx="1308" cy="388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C77DC03-0451-7B4E-35C3-795AB3BE0A71}"/>
              </a:ext>
            </a:extLst>
          </p:cNvPr>
          <p:cNvSpPr/>
          <p:nvPr/>
        </p:nvSpPr>
        <p:spPr>
          <a:xfrm>
            <a:off x="443346" y="4680514"/>
            <a:ext cx="3750315" cy="16508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9F058A2-3FD2-AC90-FEC3-0CE291855EFD}"/>
              </a:ext>
            </a:extLst>
          </p:cNvPr>
          <p:cNvSpPr/>
          <p:nvPr/>
        </p:nvSpPr>
        <p:spPr>
          <a:xfrm>
            <a:off x="4298816" y="4684265"/>
            <a:ext cx="3407242" cy="16508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FCCFF72-5453-76CC-0B42-E576F1AC55B7}"/>
              </a:ext>
            </a:extLst>
          </p:cNvPr>
          <p:cNvSpPr/>
          <p:nvPr/>
        </p:nvSpPr>
        <p:spPr>
          <a:xfrm>
            <a:off x="7819006" y="4679904"/>
            <a:ext cx="3782283" cy="16508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B7BA4925-0713-2097-340C-668F4CBD03E7}"/>
              </a:ext>
            </a:extLst>
          </p:cNvPr>
          <p:cNvCxnSpPr>
            <a:cxnSpLocks/>
          </p:cNvCxnSpPr>
          <p:nvPr/>
        </p:nvCxnSpPr>
        <p:spPr>
          <a:xfrm flipH="1">
            <a:off x="4488873" y="3757381"/>
            <a:ext cx="6378" cy="731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E715B16-BC82-8AFE-B541-422494CB70E1}"/>
              </a:ext>
            </a:extLst>
          </p:cNvPr>
          <p:cNvCxnSpPr>
            <a:stCxn id="11" idx="2"/>
          </p:cNvCxnSpPr>
          <p:nvPr/>
        </p:nvCxnSpPr>
        <p:spPr>
          <a:xfrm>
            <a:off x="8084128" y="3731488"/>
            <a:ext cx="6927" cy="757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图形 44" descr="徽章 1 纯色填充">
            <a:extLst>
              <a:ext uri="{FF2B5EF4-FFF2-40B4-BE49-F238E27FC236}">
                <a16:creationId xmlns:a16="http://schemas.microsoft.com/office/drawing/2014/main" id="{FF9F5DE3-4266-C378-B41F-796FFF2F0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9212" y="5393566"/>
            <a:ext cx="453553" cy="453553"/>
          </a:xfrm>
          <a:prstGeom prst="rect">
            <a:avLst/>
          </a:prstGeom>
        </p:spPr>
      </p:pic>
      <p:pic>
        <p:nvPicPr>
          <p:cNvPr id="47" name="图形 46" descr="徽章 3 纯色填充">
            <a:extLst>
              <a:ext uri="{FF2B5EF4-FFF2-40B4-BE49-F238E27FC236}">
                <a16:creationId xmlns:a16="http://schemas.microsoft.com/office/drawing/2014/main" id="{9C5B699F-E0B7-12C6-C52B-6B4367122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7778" y="5175858"/>
            <a:ext cx="453555" cy="453555"/>
          </a:xfrm>
          <a:prstGeom prst="rect">
            <a:avLst/>
          </a:prstGeom>
        </p:spPr>
      </p:pic>
      <p:pic>
        <p:nvPicPr>
          <p:cNvPr id="49" name="图形 48" descr="徽章 纯色填充">
            <a:extLst>
              <a:ext uri="{FF2B5EF4-FFF2-40B4-BE49-F238E27FC236}">
                <a16:creationId xmlns:a16="http://schemas.microsoft.com/office/drawing/2014/main" id="{9A090C21-57E3-BEBE-7675-070669E5DE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2016" y="5359850"/>
            <a:ext cx="453554" cy="45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0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96E7436-5FCD-4B6D-0435-FA567244887C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徽标&#10;&#10;AI 生成的内容可能不正确。">
            <a:extLst>
              <a:ext uri="{FF2B5EF4-FFF2-40B4-BE49-F238E27FC236}">
                <a16:creationId xmlns:a16="http://schemas.microsoft.com/office/drawing/2014/main" id="{1FF4510C-3CA1-F196-314B-81FDE3AFC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6056495-1940-A2E1-EC76-11230AA77A2C}"/>
              </a:ext>
            </a:extLst>
          </p:cNvPr>
          <p:cNvSpPr txBox="1"/>
          <p:nvPr/>
        </p:nvSpPr>
        <p:spPr>
          <a:xfrm>
            <a:off x="2966605" y="194170"/>
            <a:ext cx="625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40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4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285FCF-19F1-DCA7-A803-089E1CA58D48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Federated learning enabled SE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3FACAA-0A62-6972-1426-5EC798BD197A}"/>
              </a:ext>
            </a:extLst>
          </p:cNvPr>
          <p:cNvSpPr/>
          <p:nvPr/>
        </p:nvSpPr>
        <p:spPr>
          <a:xfrm>
            <a:off x="526473" y="1842655"/>
            <a:ext cx="5271654" cy="47244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4CF23B-B743-8427-D890-6CE8C5FC1602}"/>
              </a:ext>
            </a:extLst>
          </p:cNvPr>
          <p:cNvSpPr txBox="1"/>
          <p:nvPr/>
        </p:nvSpPr>
        <p:spPr>
          <a:xfrm>
            <a:off x="1275810" y="2114417"/>
            <a:ext cx="37822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Edge servers</a:t>
            </a:r>
          </a:p>
          <a:p>
            <a:pPr algn="ctr"/>
            <a:r>
              <a:rPr lang="en-US" altLang="zh-CN" sz="2000" i="1" dirty="0">
                <a:latin typeface="Arial" panose="020B0604020202020204" pitchFamily="34" charset="0"/>
                <a:cs typeface="Arial" panose="020B0604020202020204" pitchFamily="34" charset="0"/>
              </a:rPr>
              <a:t>Powerful computation and caching capabilities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E674759-F915-9750-766B-9F0BE6616698}"/>
              </a:ext>
            </a:extLst>
          </p:cNvPr>
          <p:cNvSpPr/>
          <p:nvPr/>
        </p:nvSpPr>
        <p:spPr>
          <a:xfrm>
            <a:off x="1548244" y="3290435"/>
            <a:ext cx="3228109" cy="8413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F8B1A3-98BF-B590-622A-915E260FBC51}"/>
              </a:ext>
            </a:extLst>
          </p:cNvPr>
          <p:cNvSpPr txBox="1"/>
          <p:nvPr/>
        </p:nvSpPr>
        <p:spPr>
          <a:xfrm>
            <a:off x="2250725" y="3511079"/>
            <a:ext cx="1823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BK storage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AB07047-89D7-0237-8E80-DAA272A4FFC9}"/>
              </a:ext>
            </a:extLst>
          </p:cNvPr>
          <p:cNvSpPr/>
          <p:nvPr/>
        </p:nvSpPr>
        <p:spPr>
          <a:xfrm>
            <a:off x="1548244" y="4309571"/>
            <a:ext cx="3228109" cy="8413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FD3C7A-B238-2BA0-5267-AE3129F5F24A}"/>
              </a:ext>
            </a:extLst>
          </p:cNvPr>
          <p:cNvSpPr txBox="1"/>
          <p:nvPr/>
        </p:nvSpPr>
        <p:spPr>
          <a:xfrm>
            <a:off x="1970486" y="4528275"/>
            <a:ext cx="2383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 model training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72CFBAF-A35F-019B-0234-D55E96032D6D}"/>
              </a:ext>
            </a:extLst>
          </p:cNvPr>
          <p:cNvSpPr/>
          <p:nvPr/>
        </p:nvSpPr>
        <p:spPr>
          <a:xfrm>
            <a:off x="1548244" y="5328707"/>
            <a:ext cx="3228109" cy="84139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7DC34C-FD5A-C237-49B6-02204268F547}"/>
              </a:ext>
            </a:extLst>
          </p:cNvPr>
          <p:cNvSpPr txBox="1"/>
          <p:nvPr/>
        </p:nvSpPr>
        <p:spPr>
          <a:xfrm>
            <a:off x="1956632" y="5395463"/>
            <a:ext cx="2411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Intermediary for knowledge sharing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图形 21" descr="服务器 纯色填充">
            <a:extLst>
              <a:ext uri="{FF2B5EF4-FFF2-40B4-BE49-F238E27FC236}">
                <a16:creationId xmlns:a16="http://schemas.microsoft.com/office/drawing/2014/main" id="{FAFBCC1E-B755-BDE8-E2CD-FDF912467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433" y="2169820"/>
            <a:ext cx="670754" cy="670754"/>
          </a:xfrm>
          <a:prstGeom prst="rect">
            <a:avLst/>
          </a:prstGeom>
        </p:spPr>
      </p:pic>
      <p:sp>
        <p:nvSpPr>
          <p:cNvPr id="23" name="左大括号 22">
            <a:extLst>
              <a:ext uri="{FF2B5EF4-FFF2-40B4-BE49-F238E27FC236}">
                <a16:creationId xmlns:a16="http://schemas.microsoft.com/office/drawing/2014/main" id="{8105B1F5-A8B6-4E48-74F5-55CE0181C189}"/>
              </a:ext>
            </a:extLst>
          </p:cNvPr>
          <p:cNvSpPr/>
          <p:nvPr/>
        </p:nvSpPr>
        <p:spPr>
          <a:xfrm rot="10800000">
            <a:off x="4776342" y="3637922"/>
            <a:ext cx="2767457" cy="1106744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B6C71C-8BF2-64F0-EC3E-B005BC7362B9}"/>
              </a:ext>
            </a:extLst>
          </p:cNvPr>
          <p:cNvSpPr txBox="1"/>
          <p:nvPr/>
        </p:nvSpPr>
        <p:spPr>
          <a:xfrm>
            <a:off x="7613073" y="3820389"/>
            <a:ext cx="376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Reduced communication &amp; computation latency for training</a:t>
            </a:r>
            <a:endParaRPr lang="zh-CN" alt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9172529-FE1A-4F3E-5EB6-8064155EA2A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776353" y="5749406"/>
            <a:ext cx="27674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14374C6D-3AEB-5AB3-C63B-5579CEC1F507}"/>
              </a:ext>
            </a:extLst>
          </p:cNvPr>
          <p:cNvSpPr txBox="1"/>
          <p:nvPr/>
        </p:nvSpPr>
        <p:spPr>
          <a:xfrm>
            <a:off x="7613073" y="5241574"/>
            <a:ext cx="3769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Reduced communication parties’ burden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Enhanced privacy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46D3D2-E0A0-ECF7-260F-ACEE9680125A}"/>
              </a:ext>
            </a:extLst>
          </p:cNvPr>
          <p:cNvSpPr/>
          <p:nvPr/>
        </p:nvSpPr>
        <p:spPr>
          <a:xfrm>
            <a:off x="7273635" y="3581401"/>
            <a:ext cx="4274129" cy="2840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D56AFBD-A634-F49B-086E-7F86134F6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734" y="1621593"/>
            <a:ext cx="2857751" cy="17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09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2BBED50-A6CB-A990-27A4-DE7A449740E7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6D8C8CF7-CCA2-2797-D302-93AC7B59E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ECC66F3-6B29-CB37-EE56-F77E68E9325F}"/>
              </a:ext>
            </a:extLst>
          </p:cNvPr>
          <p:cNvSpPr txBox="1"/>
          <p:nvPr/>
        </p:nvSpPr>
        <p:spPr>
          <a:xfrm>
            <a:off x="2966605" y="194170"/>
            <a:ext cx="625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40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4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E60561-77F1-3A52-87F0-8E71F9CE8D5C}"/>
              </a:ext>
            </a:extLst>
          </p:cNvPr>
          <p:cNvSpPr txBox="1"/>
          <p:nvPr/>
        </p:nvSpPr>
        <p:spPr>
          <a:xfrm>
            <a:off x="353291" y="1258395"/>
            <a:ext cx="491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Federated learning enabled SE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DB0A4C-6C1E-EC2E-1A5C-8DA355E9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842" y="1648690"/>
            <a:ext cx="4558867" cy="472153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F521ABC-B43E-7CC4-374F-CE6E5CCAB167}"/>
              </a:ext>
            </a:extLst>
          </p:cNvPr>
          <p:cNvSpPr/>
          <p:nvPr/>
        </p:nvSpPr>
        <p:spPr>
          <a:xfrm>
            <a:off x="7279842" y="3429000"/>
            <a:ext cx="4558867" cy="2687781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剪去对角 8">
            <a:extLst>
              <a:ext uri="{FF2B5EF4-FFF2-40B4-BE49-F238E27FC236}">
                <a16:creationId xmlns:a16="http://schemas.microsoft.com/office/drawing/2014/main" id="{CB1C3EF8-5715-4EBC-FF1E-7A4D627B1961}"/>
              </a:ext>
            </a:extLst>
          </p:cNvPr>
          <p:cNvSpPr/>
          <p:nvPr/>
        </p:nvSpPr>
        <p:spPr>
          <a:xfrm>
            <a:off x="333375" y="1939362"/>
            <a:ext cx="6650182" cy="4773166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A4CAD1-CCC4-69B0-4C8B-742C7B1ADCEF}"/>
              </a:ext>
            </a:extLst>
          </p:cNvPr>
          <p:cNvSpPr txBox="1"/>
          <p:nvPr/>
        </p:nvSpPr>
        <p:spPr>
          <a:xfrm>
            <a:off x="2524126" y="2031254"/>
            <a:ext cx="2395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Key procedures</a:t>
            </a:r>
            <a:endParaRPr lang="zh-CN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8F98AD-552A-C658-E0BF-BC55613CAE7E}"/>
              </a:ext>
            </a:extLst>
          </p:cNvPr>
          <p:cNvSpPr txBox="1"/>
          <p:nvPr/>
        </p:nvSpPr>
        <p:spPr>
          <a:xfrm>
            <a:off x="439883" y="2465211"/>
            <a:ext cx="656359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Edge server: pre-training or fine-tuning for specific SE tasks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Communication groups: model params. exchange and federated aggregation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Broadcast global models to each group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 model encodes and decodes SI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Destination devices evaluate the accuracy of SI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5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Newly labeled SI and/or raw data are uploaded to the edge servers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Step 6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Edge servers perform updates for the knowledge sets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1D0408-F18A-4573-ABAC-122FA291CECB}"/>
              </a:ext>
            </a:extLst>
          </p:cNvPr>
          <p:cNvSpPr txBox="1"/>
          <p:nvPr/>
        </p:nvSpPr>
        <p:spPr>
          <a:xfrm>
            <a:off x="7083641" y="6325276"/>
            <a:ext cx="4951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Fig 4 (a). Architecture for edge-enabled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624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剪去对角 10">
            <a:extLst>
              <a:ext uri="{FF2B5EF4-FFF2-40B4-BE49-F238E27FC236}">
                <a16:creationId xmlns:a16="http://schemas.microsoft.com/office/drawing/2014/main" id="{4F79DDAF-E27A-AA2D-624F-9853F150744A}"/>
              </a:ext>
            </a:extLst>
          </p:cNvPr>
          <p:cNvSpPr/>
          <p:nvPr/>
        </p:nvSpPr>
        <p:spPr>
          <a:xfrm>
            <a:off x="353291" y="2268854"/>
            <a:ext cx="6230458" cy="4316657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EB7C650-8F79-5D60-4D66-47DB193E7E73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61AC185F-3D6F-2EDD-956B-EE60AB4D6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BFD2440-5D71-7328-1C62-7341D7ABE69C}"/>
              </a:ext>
            </a:extLst>
          </p:cNvPr>
          <p:cNvSpPr txBox="1"/>
          <p:nvPr/>
        </p:nvSpPr>
        <p:spPr>
          <a:xfrm>
            <a:off x="2966605" y="194170"/>
            <a:ext cx="6258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400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SemCom</a:t>
            </a:r>
            <a:endParaRPr lang="en-US" altLang="zh-CN" sz="4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768C2E-5D0D-2F2C-DB78-84885CA07A4C}"/>
              </a:ext>
            </a:extLst>
          </p:cNvPr>
          <p:cNvSpPr txBox="1"/>
          <p:nvPr/>
        </p:nvSpPr>
        <p:spPr>
          <a:xfrm>
            <a:off x="353291" y="1259257"/>
            <a:ext cx="53617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Efficient SE based on edge-sharing knowledge-graph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C3E1659-234F-3635-6BAA-17C58FCFB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964" y="1412682"/>
            <a:ext cx="4786745" cy="495754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98DA60A-8967-9AC1-1EA2-B6F3A6F2D02F}"/>
              </a:ext>
            </a:extLst>
          </p:cNvPr>
          <p:cNvSpPr/>
          <p:nvPr/>
        </p:nvSpPr>
        <p:spPr>
          <a:xfrm>
            <a:off x="7051963" y="1412683"/>
            <a:ext cx="4786745" cy="2016318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F9A7FAE-22FB-8CBA-67DF-B077FF0EF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255" y="2676903"/>
            <a:ext cx="581858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Objective: Reduce computational and bandwidth costs in semantic communication by leveraging a fixed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KG 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stored at edge servers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Idea: Encode relations between communication goals and features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Reusable &amp; cacheable at the edge, minimizing retraining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Enhances efficiency by focusing only on salient features, reducing redundant 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Facilitates transfer learning across different environments with shared goals like collision avoidance</a:t>
            </a:r>
          </a:p>
        </p:txBody>
      </p:sp>
    </p:spTree>
    <p:extLst>
      <p:ext uri="{BB962C8B-B14F-4D97-AF65-F5344CB8AC3E}">
        <p14:creationId xmlns:p14="http://schemas.microsoft.com/office/powerpoint/2010/main" val="4057186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9ACD-622E-5AD2-E696-AEA990A2FCE8}"/>
              </a:ext>
            </a:extLst>
          </p:cNvPr>
          <p:cNvSpPr/>
          <p:nvPr/>
        </p:nvSpPr>
        <p:spPr>
          <a:xfrm>
            <a:off x="471139" y="4134545"/>
            <a:ext cx="5195370" cy="25024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2EF4A4D-FF3B-86DD-C08A-000D44D1699B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A5BCD7AB-691C-C6C4-6023-E8BAF2A4E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328F1DE-3D38-A805-5C73-25D7909AB431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Semantic-Aware Edge Intelligence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72D69B-1280-15FC-5729-E2EC7269B3CC}"/>
              </a:ext>
            </a:extLst>
          </p:cNvPr>
          <p:cNvSpPr txBox="1"/>
          <p:nvPr/>
        </p:nvSpPr>
        <p:spPr>
          <a:xfrm>
            <a:off x="353291" y="1259257"/>
            <a:ext cx="5049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Semantic-aware intelligent agent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EE841AA-F9F4-40C5-4924-AB53ADAC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927" y="1255256"/>
            <a:ext cx="4973782" cy="46606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319ED3-7867-980D-8BA0-80CE1FB274BC}"/>
              </a:ext>
            </a:extLst>
          </p:cNvPr>
          <p:cNvSpPr txBox="1"/>
          <p:nvPr/>
        </p:nvSpPr>
        <p:spPr>
          <a:xfrm>
            <a:off x="7083641" y="6325276"/>
            <a:ext cx="4951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Fig 4 (b). Example structure of CDRL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A65AE61-5F07-E584-7E78-98F6F7D86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547" y="2068451"/>
            <a:ext cx="34623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Deep reinforcement learning </a:t>
            </a:r>
            <a:endParaRPr kumimoji="0" lang="zh-CN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1955569C-BFB1-4F12-F0F9-941B8E0D3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916" y="2557861"/>
            <a:ext cx="317709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Overfitting issues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Long convergence time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Sub-optimal performance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6F0FB1-3A1C-B8D3-6416-0A5A1F471E18}"/>
              </a:ext>
            </a:extLst>
          </p:cNvPr>
          <p:cNvSpPr/>
          <p:nvPr/>
        </p:nvSpPr>
        <p:spPr>
          <a:xfrm>
            <a:off x="1198416" y="1951713"/>
            <a:ext cx="3739463" cy="1640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ACD1E0D-5EF2-8A68-15B0-0CFF1ECCE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207" y="4200803"/>
            <a:ext cx="3965233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Collaborative DRL</a:t>
            </a:r>
          </a:p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Model params. or policies exchange</a:t>
            </a:r>
            <a:endParaRPr kumimoji="0" lang="zh-CN" altLang="zh-CN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CAA68D4-214F-4944-0A95-F27165C1D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22" y="4811653"/>
            <a:ext cx="49171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Metrics for source agent selection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Structural similarity to the target agent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Semantic relatedness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avg. return of the DRL agents improved up to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83%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 than the baseline methods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0662E41-0A27-EB11-7B56-64831608AAA7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3068148" y="3592027"/>
            <a:ext cx="676" cy="54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50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A2BDD8B-123D-98EA-A7B8-A448ACF48541}"/>
              </a:ext>
            </a:extLst>
          </p:cNvPr>
          <p:cNvSpPr/>
          <p:nvPr/>
        </p:nvSpPr>
        <p:spPr>
          <a:xfrm>
            <a:off x="1737141" y="4717915"/>
            <a:ext cx="3390899" cy="16403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DEFA49C-2D89-599D-4CD9-028482A9A7B5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7BB1181C-8B31-CD67-BA53-3FC5F01BE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66E3F3E-439C-7FC6-6D2E-CE8EDF46B628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Semantic-Aware Edge Intelligence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92DFC6-6FAF-26A6-0860-EB9E04693F2D}"/>
              </a:ext>
            </a:extLst>
          </p:cNvPr>
          <p:cNvSpPr txBox="1"/>
          <p:nvPr/>
        </p:nvSpPr>
        <p:spPr>
          <a:xfrm>
            <a:off x="353291" y="1259256"/>
            <a:ext cx="7335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Semantic-aware distributed deep learning at wireless edge networks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BC1F4F-183D-67E6-3ABE-051E2D24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927" y="1255256"/>
            <a:ext cx="4973782" cy="46606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F97AB7B-B4B1-4115-AC64-6BE4807B96C8}"/>
              </a:ext>
            </a:extLst>
          </p:cNvPr>
          <p:cNvSpPr txBox="1"/>
          <p:nvPr/>
        </p:nvSpPr>
        <p:spPr>
          <a:xfrm>
            <a:off x="7083641" y="6325276"/>
            <a:ext cx="4951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Fig 4 (b). Example structure of CDRL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5C3F8D7-16B5-92AC-49B9-D797596CE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860" y="2492660"/>
            <a:ext cx="34623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CDRL &amp; distributed DL</a:t>
            </a:r>
            <a:endParaRPr kumimoji="0" lang="zh-CN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5913F44-D308-CF21-25E6-3FA4BB400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11" y="3077601"/>
            <a:ext cx="44570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communication overheads for exchanging model params.</a:t>
            </a:r>
            <a:endParaRPr kumimoji="0" lang="zh-CN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16AA46C-0FA6-2513-7235-B07DD5AFE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403" y="4908664"/>
            <a:ext cx="34623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compression</a:t>
            </a:r>
            <a:endParaRPr kumimoji="0" lang="zh-CN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8929E2C-446F-4831-47B6-FD0B5C980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511" y="5502133"/>
            <a:ext cx="310215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Gradient 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sparsification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Model param. pruning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3DF430-D81C-1347-B0C4-89763C3ACB65}"/>
              </a:ext>
            </a:extLst>
          </p:cNvPr>
          <p:cNvSpPr/>
          <p:nvPr/>
        </p:nvSpPr>
        <p:spPr>
          <a:xfrm>
            <a:off x="1278711" y="2362749"/>
            <a:ext cx="4304672" cy="1640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11CFB9B-A7EB-88B9-FED9-986A4DB05AD6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3431047" y="4003063"/>
            <a:ext cx="1544" cy="714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322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C055A85-66B5-C858-A72B-59B16DE1977E}"/>
              </a:ext>
            </a:extLst>
          </p:cNvPr>
          <p:cNvSpPr/>
          <p:nvPr/>
        </p:nvSpPr>
        <p:spPr>
          <a:xfrm>
            <a:off x="6095999" y="2308076"/>
            <a:ext cx="5365957" cy="376843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67B7F4E-6E11-A133-17E8-6569CB0CC090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A9E7F3DF-6462-1CA4-F82B-FF8FA2A80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385E59B-1100-D9F5-9BCD-F24FE5B53092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Case Study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0D1979-463F-E2EB-4A5B-7D9C9E92ECB1}"/>
              </a:ext>
            </a:extLst>
          </p:cNvPr>
          <p:cNvSpPr txBox="1"/>
          <p:nvPr/>
        </p:nvSpPr>
        <p:spPr>
          <a:xfrm>
            <a:off x="353291" y="1259257"/>
            <a:ext cx="2078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D630807-88A0-53BB-8F6B-895E4F744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14" y="3684462"/>
            <a:ext cx="536595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Traditional resource allocation maximizes throughput without considering semantic importance or conflicting user-edge goals</a:t>
            </a:r>
            <a:endParaRPr kumimoji="0" lang="zh-CN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B8EB28-F0E0-4319-9932-865C5F3CE1C3}"/>
              </a:ext>
            </a:extLst>
          </p:cNvPr>
          <p:cNvSpPr txBox="1"/>
          <p:nvPr/>
        </p:nvSpPr>
        <p:spPr>
          <a:xfrm>
            <a:off x="6095999" y="1336201"/>
            <a:ext cx="3519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Proposed approaches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39D1CF7-70DD-5D78-5C03-EC7EBC1E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392" y="2607245"/>
            <a:ext cx="471904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Redesign energy and data allocation policies to maximize semantic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an auction-based mechanism where IoT devices bid for energy based on expected semantic gains (sentence similarity, BLEU score)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Allocate energy to devices that provide the highest semantic value, ensuring effective SemCom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89CBE0-EC0D-B8EB-751D-F150522E0AE7}"/>
              </a:ext>
            </a:extLst>
          </p:cNvPr>
          <p:cNvSpPr/>
          <p:nvPr/>
        </p:nvSpPr>
        <p:spPr>
          <a:xfrm>
            <a:off x="353291" y="3494385"/>
            <a:ext cx="5135788" cy="1395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647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68F41AA-E42E-5155-98D6-67087D6FC06C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2EEEDCD9-C0E1-07C7-70F0-A914C9083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1236957-276C-C348-D121-674C10CC9F90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Case Study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1CF492-9A22-6E09-224C-47A9EAC6A638}"/>
              </a:ext>
            </a:extLst>
          </p:cNvPr>
          <p:cNvSpPr txBox="1"/>
          <p:nvPr/>
        </p:nvSpPr>
        <p:spPr>
          <a:xfrm>
            <a:off x="353291" y="1259257"/>
            <a:ext cx="2570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System model</a:t>
            </a:r>
          </a:p>
        </p:txBody>
      </p:sp>
      <p:sp>
        <p:nvSpPr>
          <p:cNvPr id="7" name="矩形: 剪去对角 6">
            <a:extLst>
              <a:ext uri="{FF2B5EF4-FFF2-40B4-BE49-F238E27FC236}">
                <a16:creationId xmlns:a16="http://schemas.microsoft.com/office/drawing/2014/main" id="{518DD81E-AC6D-6893-198F-23E57F59E0ED}"/>
              </a:ext>
            </a:extLst>
          </p:cNvPr>
          <p:cNvSpPr/>
          <p:nvPr/>
        </p:nvSpPr>
        <p:spPr>
          <a:xfrm>
            <a:off x="405246" y="1974272"/>
            <a:ext cx="4436918" cy="4059381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74E7806-B49D-EB5B-F03F-A1A5068D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13" y="2677465"/>
            <a:ext cx="40264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Wireless-powered IoT devices encode/decode semantic information from text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Devices bid for energy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 HAP determines winners via a </a:t>
            </a:r>
            <a:r>
              <a:rPr kumimoji="0" lang="zh-CN" altLang="zh-CN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DL-based auction</a:t>
            </a:r>
            <a:endParaRPr kumimoji="0" lang="en-US" altLang="zh-CN" sz="20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Devices adjust output dimensions based on energy constraints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EED90F-C98C-DBE9-41A1-EC991188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827" y="1974272"/>
            <a:ext cx="6483927" cy="375385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72BA083-409F-F603-D760-93BF46FAB273}"/>
              </a:ext>
            </a:extLst>
          </p:cNvPr>
          <p:cNvSpPr txBox="1"/>
          <p:nvPr/>
        </p:nvSpPr>
        <p:spPr>
          <a:xfrm>
            <a:off x="6069156" y="5848987"/>
            <a:ext cx="495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5 (a). System model of the case study</a:t>
            </a:r>
          </a:p>
        </p:txBody>
      </p:sp>
    </p:spTree>
    <p:extLst>
      <p:ext uri="{BB962C8B-B14F-4D97-AF65-F5344CB8AC3E}">
        <p14:creationId xmlns:p14="http://schemas.microsoft.com/office/powerpoint/2010/main" val="3893522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剪去对角 2">
            <a:extLst>
              <a:ext uri="{FF2B5EF4-FFF2-40B4-BE49-F238E27FC236}">
                <a16:creationId xmlns:a16="http://schemas.microsoft.com/office/drawing/2014/main" id="{C83DDCE4-BA1B-F0D8-8E81-0FE36ED55128}"/>
              </a:ext>
            </a:extLst>
          </p:cNvPr>
          <p:cNvSpPr/>
          <p:nvPr/>
        </p:nvSpPr>
        <p:spPr>
          <a:xfrm>
            <a:off x="353291" y="2009714"/>
            <a:ext cx="4197444" cy="4059381"/>
          </a:xfrm>
          <a:prstGeom prst="snip2DiagRect">
            <a:avLst>
              <a:gd name="adj1" fmla="val 14539"/>
              <a:gd name="adj2" fmla="val 0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F10CC7-4EF8-E4F5-DF94-10E97FD5D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194" y="2299469"/>
            <a:ext cx="353709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Higher semantic quality (sentence similarity, BLEU score) leads to higher bids and better energy allocation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DL auction achieves higher revenue compared to traditional methods, effectively aligning resource distribution with semantic importance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EADBFAF-1666-8994-10F6-44D19EE319A7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A9A698ED-969E-D007-56ED-82DAB49C0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FD35952-0E23-C878-9619-C8B254F39991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Case Study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F4A72E-57D0-862F-6F0B-D003F8571A0D}"/>
              </a:ext>
            </a:extLst>
          </p:cNvPr>
          <p:cNvSpPr txBox="1"/>
          <p:nvPr/>
        </p:nvSpPr>
        <p:spPr>
          <a:xfrm>
            <a:off x="353291" y="1259257"/>
            <a:ext cx="1581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0588B1E-9487-CF64-9F95-6104F27B9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934" y="2009714"/>
            <a:ext cx="6975775" cy="27399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BE0EAF4-6AEF-57E1-D5F5-E853884FE1C3}"/>
              </a:ext>
            </a:extLst>
          </p:cNvPr>
          <p:cNvSpPr txBox="1"/>
          <p:nvPr/>
        </p:nvSpPr>
        <p:spPr>
          <a:xfrm>
            <a:off x="5875187" y="5055091"/>
            <a:ext cx="495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Fig 5 (b). Results of the case study</a:t>
            </a:r>
          </a:p>
        </p:txBody>
      </p:sp>
    </p:spTree>
    <p:extLst>
      <p:ext uri="{BB962C8B-B14F-4D97-AF65-F5344CB8AC3E}">
        <p14:creationId xmlns:p14="http://schemas.microsoft.com/office/powerpoint/2010/main" val="3750323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1C7D1C4-C5AC-9399-F62A-C5253CDECCA4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262CEDFC-18A5-C711-23D9-97CDC49E6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595F4B8-95B3-5768-3050-17607B8BEC9B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Directions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345998-03D9-1F1E-C25A-CCA03FF78423}"/>
              </a:ext>
            </a:extLst>
          </p:cNvPr>
          <p:cNvSpPr txBox="1"/>
          <p:nvPr/>
        </p:nvSpPr>
        <p:spPr>
          <a:xfrm>
            <a:off x="353291" y="1259257"/>
            <a:ext cx="378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Edge-enabled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SemCom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9934AF-1A0E-A4B2-6C33-42794D34E1AB}"/>
              </a:ext>
            </a:extLst>
          </p:cNvPr>
          <p:cNvSpPr txBox="1"/>
          <p:nvPr/>
        </p:nvSpPr>
        <p:spPr>
          <a:xfrm>
            <a:off x="6373090" y="1259257"/>
            <a:ext cx="5146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Semantic-aware edge intelligence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A911A18-38F6-5AF5-7BC5-145C53E11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291" y="1942048"/>
            <a:ext cx="5742709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 &amp; Explainability of SE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SE methods are black-box models, limiting trust and understanding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explainable SE is crucial for identifying semantic information and guiding model improvements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KGs can improve interpretability but require computationally intensive construction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Privacy &amp; Security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Eavesdropping risks increase in groups sharing similar goals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Introducing semantic 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might enable secure, covert SemCom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Variable-Length Semantic Encoding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SE approaches mainly focus on channel dynamics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 needed to adapt semantic encoding lengths dynamically based on varying network resources (spectrum, power)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F03E562-9F67-968A-1029-9EC1B3D06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4654" y="1942048"/>
            <a:ext cx="536171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DL-Based Task Similarity Measurement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metrics rely on extensive training and hand-crafted procedures</a:t>
            </a:r>
            <a:endParaRPr kumimoji="0" lang="en-US" altLang="zh-C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Approach: Use 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DL 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extract semantic embeddings from model param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Compression of Model Parameters: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model compression depends on hyperparameters, which are costly to optimize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Approach: Adopt semantic-aware encoding/decoding structures that extract essential information, enabling efficient transmission and accurate reconstruction without manual hyperparameter tuning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DA89AC-307E-7867-40AD-A59EA304695D}"/>
              </a:ext>
            </a:extLst>
          </p:cNvPr>
          <p:cNvSpPr/>
          <p:nvPr/>
        </p:nvSpPr>
        <p:spPr>
          <a:xfrm>
            <a:off x="353291" y="1849582"/>
            <a:ext cx="5562600" cy="48630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5B85E7-E16D-D51D-6964-0ABD1E5FBE6E}"/>
              </a:ext>
            </a:extLst>
          </p:cNvPr>
          <p:cNvSpPr/>
          <p:nvPr/>
        </p:nvSpPr>
        <p:spPr>
          <a:xfrm>
            <a:off x="6276109" y="1857567"/>
            <a:ext cx="5562600" cy="34348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849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0DAFA895-D5F8-C183-8150-3D4163AAFA6D}"/>
              </a:ext>
            </a:extLst>
          </p:cNvPr>
          <p:cNvSpPr/>
          <p:nvPr/>
        </p:nvSpPr>
        <p:spPr>
          <a:xfrm>
            <a:off x="353290" y="1988142"/>
            <a:ext cx="4939145" cy="462047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0ECE7F8F-8BA5-04BA-49AA-7EE859FBA8C6}"/>
              </a:ext>
            </a:extLst>
          </p:cNvPr>
          <p:cNvCxnSpPr>
            <a:cxnSpLocks/>
          </p:cNvCxnSpPr>
          <p:nvPr/>
        </p:nvCxnSpPr>
        <p:spPr>
          <a:xfrm>
            <a:off x="353291" y="108065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10F6E06E-A256-A558-0B59-AE4DC3BE1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365" y="164594"/>
            <a:ext cx="972344" cy="737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5140F9-B3DF-2685-9760-316F86055F9E}"/>
              </a:ext>
            </a:extLst>
          </p:cNvPr>
          <p:cNvSpPr txBox="1"/>
          <p:nvPr/>
        </p:nvSpPr>
        <p:spPr>
          <a:xfrm>
            <a:off x="1725757" y="194170"/>
            <a:ext cx="8740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550B08-55E3-0DF2-24EE-730EA82CA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37" y="2365169"/>
            <a:ext cx="466205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Bandwidth Efficiency: Transmits only task-relevant information, reducing data load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Privacy: Limits exposure of raw data, improving security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Edge Synergy: Leverages edge computing and AI for real-time, context-aware communication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Optimization: Enables smarter, goal-oriented data exchange, improving system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 Supports large-scale deployments via federated learning and distributed models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52EA09-ABB5-4A5D-CF5C-C8E2C14F5BF3}"/>
              </a:ext>
            </a:extLst>
          </p:cNvPr>
          <p:cNvSpPr txBox="1"/>
          <p:nvPr/>
        </p:nvSpPr>
        <p:spPr>
          <a:xfrm>
            <a:off x="353291" y="1259257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E3876B2-D0C2-C7B9-589B-DAC439D7D9DC}"/>
              </a:ext>
            </a:extLst>
          </p:cNvPr>
          <p:cNvSpPr/>
          <p:nvPr/>
        </p:nvSpPr>
        <p:spPr>
          <a:xfrm>
            <a:off x="6483927" y="1981211"/>
            <a:ext cx="4939145" cy="462740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C2985D-9D6A-A2A8-1337-53769373DD65}"/>
              </a:ext>
            </a:extLst>
          </p:cNvPr>
          <p:cNvSpPr txBox="1"/>
          <p:nvPr/>
        </p:nvSpPr>
        <p:spPr>
          <a:xfrm>
            <a:off x="6483928" y="1259257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EBEEF33-0F9E-EAB6-C475-C3C8B738F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016" y="2226669"/>
            <a:ext cx="466205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Computational Cost: Semantic extraction and model training are resource-intensive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Demands: Significant storage needed for knowledge bases and models at devices/edge servers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Generalization: Mismatch in knowledge sharing can hinder adaptability in dynamic environments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Concerns: Sharing knowledge across devices may introduce privacy risks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</a:pP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Challenges: Integration complexity and resource management across heterogeneous networks</a:t>
            </a:r>
          </a:p>
        </p:txBody>
      </p:sp>
    </p:spTree>
    <p:extLst>
      <p:ext uri="{BB962C8B-B14F-4D97-AF65-F5344CB8AC3E}">
        <p14:creationId xmlns:p14="http://schemas.microsoft.com/office/powerpoint/2010/main" val="1103615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7562353-899F-1CBD-5657-FD25C7467E8A}"/>
              </a:ext>
            </a:extLst>
          </p:cNvPr>
          <p:cNvCxnSpPr>
            <a:cxnSpLocks/>
          </p:cNvCxnSpPr>
          <p:nvPr/>
        </p:nvCxnSpPr>
        <p:spPr>
          <a:xfrm>
            <a:off x="353291" y="533402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2F3FF0E-ADD1-7C30-A1D6-ED3952A231BE}"/>
              </a:ext>
            </a:extLst>
          </p:cNvPr>
          <p:cNvSpPr txBox="1"/>
          <p:nvPr/>
        </p:nvSpPr>
        <p:spPr>
          <a:xfrm>
            <a:off x="1145052" y="1660406"/>
            <a:ext cx="9901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you!</a:t>
            </a:r>
            <a:endParaRPr lang="zh-CN" alt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5592682-2400-349A-3FDB-54814E3853F3}"/>
              </a:ext>
            </a:extLst>
          </p:cNvPr>
          <p:cNvCxnSpPr>
            <a:cxnSpLocks/>
          </p:cNvCxnSpPr>
          <p:nvPr/>
        </p:nvCxnSpPr>
        <p:spPr>
          <a:xfrm>
            <a:off x="353291" y="6317676"/>
            <a:ext cx="11485418" cy="0"/>
          </a:xfrm>
          <a:prstGeom prst="lin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DB52DC20-D590-3D6E-6602-4D13E1CCA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556" y="3342262"/>
            <a:ext cx="1262631" cy="957626"/>
          </a:xfrm>
          <a:prstGeom prst="rect">
            <a:avLst/>
          </a:prstGeom>
        </p:spPr>
      </p:pic>
      <p:pic>
        <p:nvPicPr>
          <p:cNvPr id="6" name="图片 5" descr="徽标, 公司名称&#10;&#10;AI 生成的内容可能不正确。">
            <a:extLst>
              <a:ext uri="{FF2B5EF4-FFF2-40B4-BE49-F238E27FC236}">
                <a16:creationId xmlns:a16="http://schemas.microsoft.com/office/drawing/2014/main" id="{992AC724-508F-09E6-C065-09BACDA7B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37" y="3335232"/>
            <a:ext cx="971686" cy="9716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1225A6-DD42-472C-D2C7-86884A8B33C3}"/>
              </a:ext>
            </a:extLst>
          </p:cNvPr>
          <p:cNvSpPr txBox="1"/>
          <p:nvPr/>
        </p:nvSpPr>
        <p:spPr>
          <a:xfrm>
            <a:off x="5205842" y="5196276"/>
            <a:ext cx="1780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Jun. 20, 2025</a:t>
            </a:r>
            <a:endParaRPr lang="zh-CN" altLang="en-US" dirty="0">
              <a:latin typeface="Arial" panose="020B0604020202020204" pitchFamily="34" charset="0"/>
              <a:ea typeface="Noto Sans SC" panose="020B02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BD8FFB-2CE1-DCCD-7691-209D787F6D7F}"/>
              </a:ext>
            </a:extLst>
          </p:cNvPr>
          <p:cNvSpPr txBox="1"/>
          <p:nvPr/>
        </p:nvSpPr>
        <p:spPr>
          <a:xfrm>
            <a:off x="4682833" y="4720730"/>
            <a:ext cx="282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提高 </a:t>
            </a:r>
            <a:r>
              <a:rPr lang="en-US" altLang="zh-CN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2301 </a:t>
            </a:r>
            <a:r>
              <a:rPr lang="zh-CN" altLang="en-US" dirty="0">
                <a:latin typeface="Arial" panose="020B0604020202020204" pitchFamily="34" charset="0"/>
                <a:ea typeface="Noto Sans SC" panose="020B0200000000000000" pitchFamily="34" charset="-122"/>
                <a:cs typeface="Arial" panose="020B0604020202020204" pitchFamily="34" charset="0"/>
              </a:rPr>
              <a:t>班 张禹阳</a:t>
            </a:r>
          </a:p>
        </p:txBody>
      </p:sp>
    </p:spTree>
    <p:extLst>
      <p:ext uri="{BB962C8B-B14F-4D97-AF65-F5344CB8AC3E}">
        <p14:creationId xmlns:p14="http://schemas.microsoft.com/office/powerpoint/2010/main" val="416448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1608</Words>
  <Application>Microsoft Office PowerPoint</Application>
  <PresentationFormat>宽屏</PresentationFormat>
  <Paragraphs>285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等线</vt:lpstr>
      <vt:lpstr>等线 Light</vt:lpstr>
      <vt:lpstr>Arial</vt:lpstr>
      <vt:lpstr>Cambria Math</vt:lpstr>
      <vt:lpstr>Georgia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Eucalypriccio</dc:creator>
  <cp:lastModifiedBy>Eucalypriccio</cp:lastModifiedBy>
  <cp:revision>11</cp:revision>
  <dcterms:created xsi:type="dcterms:W3CDTF">2025-06-17T13:04:40Z</dcterms:created>
  <dcterms:modified xsi:type="dcterms:W3CDTF">2025-06-21T12:50:50Z</dcterms:modified>
</cp:coreProperties>
</file>